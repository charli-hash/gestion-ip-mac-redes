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492001-AB0D-B556-C3DB-291A95A0526D}" v="184" dt="2025-11-30T20:51:40.2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/>
              <a:t>TÍTULO DE LA</a:t>
            </a:r>
            <a:br>
              <a:rPr lang="es-ES"/>
            </a:br>
            <a:r>
              <a:rPr lang="es-ES"/>
              <a:t>PRESENTACIÓN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Fecha</a:t>
            </a:r>
            <a:endParaRPr lang="es-CL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/>
              <a:t>Área que presenta</a:t>
            </a:r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1827613"/>
            <a:ext cx="1968619" cy="68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5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30/11/2025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8FDDA-8140-4E23-9A8B-C8DBBABD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rial"/>
                <a:cs typeface="Arial"/>
              </a:rPr>
              <a:t>Avance 2 – Sistema de Gestión de IP y MAC con Nmap y Pi-hole</a:t>
            </a:r>
          </a:p>
          <a:p>
            <a:endParaRPr lang="en-US" noProof="1">
              <a:latin typeface="Arial"/>
              <a:cs typeface="Arial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00BC0CF-B17D-4A50-ABE9-4484FAE476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>
                <a:latin typeface="Arial"/>
                <a:cs typeface="Arial"/>
              </a:rPr>
              <a:t>Fecha: 03-12-2025</a:t>
            </a:r>
            <a:endParaRPr lang="es-CL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4A6EDC5-665D-4C54-9434-DB56AD78E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-CL" sz="1200" b="1" noProof="1">
                <a:latin typeface="Arial"/>
                <a:cs typeface="Arial"/>
              </a:rPr>
              <a:t>Autor:</a:t>
            </a:r>
            <a:r>
              <a:rPr lang="es-CL" sz="1200" noProof="1">
                <a:latin typeface="Arial"/>
                <a:cs typeface="Arial"/>
              </a:rPr>
              <a:t> Charlie Bailey Moya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Carrera:</a:t>
            </a:r>
            <a:r>
              <a:rPr lang="es-CL" sz="1200" noProof="1">
                <a:latin typeface="Arial"/>
                <a:cs typeface="Arial"/>
              </a:rPr>
              <a:t> Programación y Análisis de Sistemas — AIEP Concepción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Profesor Guía:</a:t>
            </a:r>
            <a:r>
              <a:rPr lang="es-CL" sz="1200" noProof="1">
                <a:latin typeface="Arial"/>
                <a:cs typeface="Arial"/>
              </a:rPr>
              <a:t> Víctor Valderrama</a:t>
            </a:r>
            <a:br>
              <a:rPr lang="es-CL" sz="1200" noProof="1">
                <a:latin typeface="Arial"/>
                <a:cs typeface="Arial"/>
              </a:rPr>
            </a:br>
            <a:r>
              <a:rPr lang="es-CL" sz="1200" b="1" noProof="1">
                <a:latin typeface="Arial"/>
                <a:cs typeface="Arial"/>
              </a:rPr>
              <a:t>Año:</a:t>
            </a:r>
            <a:r>
              <a:rPr lang="es-CL" sz="1200" noProof="1">
                <a:latin typeface="Arial"/>
                <a:cs typeface="Arial"/>
              </a:rPr>
              <a:t> 2025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5598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60333-E418-214A-DFF0-9B26430B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1️⃣ Objetivo del Proyecto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9A9D7-8B67-BBC3-4F61-3B8F018DC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sz="2600" b="1" dirty="0">
                <a:ea typeface="+mn-lt"/>
                <a:cs typeface="+mn-lt"/>
              </a:rPr>
              <a:t>Desarrollar una aplicación web</a:t>
            </a:r>
            <a:r>
              <a:rPr lang="es-CL" sz="2600" dirty="0">
                <a:ea typeface="+mn-lt"/>
                <a:cs typeface="+mn-lt"/>
              </a:rPr>
              <a:t> para </a:t>
            </a:r>
            <a:r>
              <a:rPr lang="es-CL" sz="2600" b="1" dirty="0">
                <a:ea typeface="+mn-lt"/>
                <a:cs typeface="+mn-lt"/>
              </a:rPr>
              <a:t>gestionar y monitorear direcciones IP y MAC</a:t>
            </a:r>
            <a:r>
              <a:rPr lang="es-CL" sz="2600" dirty="0">
                <a:ea typeface="+mn-lt"/>
                <a:cs typeface="+mn-lt"/>
              </a:rPr>
              <a:t> dentro de una red local.</a:t>
            </a:r>
            <a:endParaRPr lang="es-CL" sz="2600" dirty="0"/>
          </a:p>
          <a:p>
            <a:r>
              <a:rPr lang="es-CL" sz="2600" dirty="0">
                <a:ea typeface="+mn-lt"/>
                <a:cs typeface="+mn-lt"/>
              </a:rPr>
              <a:t>🔧 </a:t>
            </a:r>
            <a:r>
              <a:rPr lang="es-CL" sz="2600" b="1" dirty="0">
                <a:ea typeface="+mn-lt"/>
                <a:cs typeface="+mn-lt"/>
              </a:rPr>
              <a:t>Integración con herramientas open-source:</a:t>
            </a:r>
            <a:endParaRPr lang="es-CL" sz="2600" dirty="0"/>
          </a:p>
          <a:p>
            <a:r>
              <a:rPr lang="es-CL" sz="2600" b="1" dirty="0">
                <a:ea typeface="+mn-lt"/>
                <a:cs typeface="+mn-lt"/>
              </a:rPr>
              <a:t>Nmap</a:t>
            </a:r>
            <a:r>
              <a:rPr lang="es-CL" sz="2600" dirty="0">
                <a:ea typeface="+mn-lt"/>
                <a:cs typeface="+mn-lt"/>
              </a:rPr>
              <a:t> → detección de dispositivos activos.</a:t>
            </a:r>
            <a:endParaRPr lang="es-CL" sz="2600" dirty="0"/>
          </a:p>
          <a:p>
            <a:r>
              <a:rPr lang="es-CL" sz="2600" b="1" dirty="0">
                <a:ea typeface="+mn-lt"/>
                <a:cs typeface="+mn-lt"/>
              </a:rPr>
              <a:t>Pi-hole</a:t>
            </a:r>
            <a:r>
              <a:rPr lang="es-CL" sz="2600" dirty="0">
                <a:ea typeface="+mn-lt"/>
                <a:cs typeface="+mn-lt"/>
              </a:rPr>
              <a:t> → registro y filtrado de consultas DNS.</a:t>
            </a:r>
            <a:endParaRPr lang="es-CL" sz="2600" dirty="0"/>
          </a:p>
          <a:p>
            <a:r>
              <a:rPr lang="es-CL" sz="2600" b="1" dirty="0">
                <a:ea typeface="+mn-lt"/>
                <a:cs typeface="+mn-lt"/>
              </a:rPr>
              <a:t>PHP + MySQL</a:t>
            </a:r>
            <a:r>
              <a:rPr lang="es-CL" sz="2600" dirty="0">
                <a:ea typeface="+mn-lt"/>
                <a:cs typeface="+mn-lt"/>
              </a:rPr>
              <a:t> → gestión de usuarios, dispositivos y reportes.</a:t>
            </a:r>
            <a:endParaRPr lang="es-CL" sz="2600" dirty="0"/>
          </a:p>
          <a:p>
            <a:r>
              <a:rPr lang="es-CL" sz="2600" dirty="0">
                <a:ea typeface="+mn-lt"/>
                <a:cs typeface="+mn-lt"/>
              </a:rPr>
              <a:t>🎯 </a:t>
            </a:r>
            <a:r>
              <a:rPr lang="es-CL" sz="2600" b="1" dirty="0">
                <a:ea typeface="+mn-lt"/>
                <a:cs typeface="+mn-lt"/>
              </a:rPr>
              <a:t>Propósito:</a:t>
            </a:r>
            <a:r>
              <a:rPr lang="es-CL" sz="2600" dirty="0">
                <a:ea typeface="+mn-lt"/>
                <a:cs typeface="+mn-lt"/>
              </a:rPr>
              <a:t> automatizar el monitoreo de red mediante un panel </a:t>
            </a:r>
            <a:r>
              <a:rPr lang="es-CL" sz="2600" b="1" dirty="0">
                <a:ea typeface="+mn-lt"/>
                <a:cs typeface="+mn-lt"/>
              </a:rPr>
              <a:t>claro, rápido y seguro</a:t>
            </a:r>
            <a:r>
              <a:rPr lang="es-CL" sz="2600" dirty="0">
                <a:ea typeface="+mn-lt"/>
                <a:cs typeface="+mn-lt"/>
              </a:rPr>
              <a:t>.</a:t>
            </a:r>
            <a:endParaRPr lang="es-CL" sz="2600" dirty="0"/>
          </a:p>
          <a:p>
            <a:endParaRPr lang="es-CL" sz="2600" dirty="0"/>
          </a:p>
        </p:txBody>
      </p:sp>
    </p:spTree>
    <p:extLst>
      <p:ext uri="{BB962C8B-B14F-4D97-AF65-F5344CB8AC3E}">
        <p14:creationId xmlns:p14="http://schemas.microsoft.com/office/powerpoint/2010/main" val="4273358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F6CFA-C4C0-1EFF-DB78-4BE4318B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ED7D31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2️⃣ </a:t>
            </a:r>
            <a:r>
              <a:rPr lang="en-US" sz="2600" kern="1200" noProof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Módulos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noProof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Principales</a:t>
            </a:r>
            <a:endParaRPr lang="en-US" sz="2600" kern="1200" noProof="1">
              <a:solidFill>
                <a:srgbClr val="FFFFFF"/>
              </a:solidFill>
              <a:latin typeface="+mj-lt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A91A8A-0EC5-78B3-E166-76EDD6DBA2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47797"/>
              </p:ext>
            </p:extLst>
          </p:nvPr>
        </p:nvGraphicFramePr>
        <p:xfrm>
          <a:off x="4038600" y="1368780"/>
          <a:ext cx="7188200" cy="4117059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854442">
                  <a:extLst>
                    <a:ext uri="{9D8B030D-6E8A-4147-A177-3AD203B41FA5}">
                      <a16:colId xmlns:a16="http://schemas.microsoft.com/office/drawing/2014/main" val="110458377"/>
                    </a:ext>
                  </a:extLst>
                </a:gridCol>
                <a:gridCol w="4333758">
                  <a:extLst>
                    <a:ext uri="{9D8B030D-6E8A-4147-A177-3AD203B41FA5}">
                      <a16:colId xmlns:a16="http://schemas.microsoft.com/office/drawing/2014/main" val="3993149090"/>
                    </a:ext>
                  </a:extLst>
                </a:gridCol>
              </a:tblGrid>
              <a:tr h="423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🔧 Módulo</a:t>
                      </a:r>
                    </a:p>
                  </a:txBody>
                  <a:tcPr marL="102414" marR="102414" marT="71690" marB="7169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🧩 Descripción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28575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172376"/>
                  </a:ext>
                </a:extLst>
              </a:tr>
              <a:tr h="5940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🔐 </a:t>
                      </a: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Login y Roles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300" cap="none" spc="0" noProof="0">
                          <a:solidFill>
                            <a:schemeClr val="tx1"/>
                          </a:solidFill>
                        </a:rPr>
                        <a:t>Acceso seguro por tipo de usuario (Admin, Operador, Lector).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775588"/>
                  </a:ext>
                </a:extLst>
              </a:tr>
              <a:tr h="423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🌐 </a:t>
                      </a: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Configuración de Red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414" marR="102414" marT="71690" marB="7169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419" sz="1600" cap="none" spc="0" noProof="0">
                          <a:solidFill>
                            <a:schemeClr val="tx1"/>
                          </a:solidFill>
                        </a:rPr>
                        <a:t>Definición de rango IP y rutas Nmap.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768664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🖥️ </a:t>
                      </a: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Escaneo Nmap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300" cap="none" spc="0" noProof="0">
                          <a:solidFill>
                            <a:schemeClr val="tx1"/>
                          </a:solidFill>
                        </a:rPr>
                        <a:t>Detección automática de IP, MAC y fabricante.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867523"/>
                  </a:ext>
                </a:extLst>
              </a:tr>
              <a:tr h="423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🧾 </a:t>
                      </a: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Importación Pi-hole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414" marR="102414" marT="71690" marB="7169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419" sz="1600" cap="none" spc="0" noProof="0">
                          <a:solidFill>
                            <a:schemeClr val="tx1"/>
                          </a:solidFill>
                        </a:rPr>
                        <a:t>Registra consultas DNS evitando duplicados</a:t>
                      </a: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0652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👤 </a:t>
                      </a: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Gestion de </a:t>
                      </a:r>
                      <a:r>
                        <a:rPr lang="es-CL" sz="1300" b="1" cap="none" spc="0" noProof="0" dirty="0">
                          <a:solidFill>
                            <a:schemeClr val="tx1"/>
                          </a:solidFill>
                        </a:rPr>
                        <a:t>Usuarios </a:t>
                      </a: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de Red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 noProof="1">
                          <a:solidFill>
                            <a:schemeClr val="tx1"/>
                          </a:solidFill>
                        </a:rPr>
                        <a:t>Asignación de dispositivos a usuarios.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479736"/>
                  </a:ext>
                </a:extLst>
              </a:tr>
              <a:tr h="6622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📊 </a:t>
                      </a: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Dashboard con KPIs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414" marR="102414" marT="71690" marB="7169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noProof="1">
                          <a:solidFill>
                            <a:schemeClr val="tx1"/>
                          </a:solidFill>
                        </a:rPr>
                        <a:t>Métricas globales y consultas DNS en tiempo real.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364457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📦 </a:t>
                      </a:r>
                      <a:r>
                        <a:rPr lang="en-US" sz="1300" b="1" cap="none" spc="0" dirty="0">
                          <a:solidFill>
                            <a:schemeClr val="tx1"/>
                          </a:solidFill>
                        </a:rPr>
                        <a:t>CRUD y Búsqueda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Crear, </a:t>
                      </a:r>
                      <a:r>
                        <a:rPr lang="en-US" sz="1300" cap="none" spc="0" noProof="1">
                          <a:solidFill>
                            <a:schemeClr val="tx1"/>
                          </a:solidFill>
                        </a:rPr>
                        <a:t>editar y filtrar dispositivos fácilmente.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01071"/>
                  </a:ext>
                </a:extLst>
              </a:tr>
              <a:tr h="423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📤 </a:t>
                      </a: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Exportación CSV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414" marR="102414" marT="71690" marB="7169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Generación</a:t>
                      </a:r>
                      <a:r>
                        <a:rPr lang="en-US" sz="1600" cap="none" spc="0" noProof="1">
                          <a:solidFill>
                            <a:schemeClr val="tx1"/>
                          </a:solidFill>
                        </a:rPr>
                        <a:t> rápida de reportes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102414" marR="102414" marT="71690" marB="71690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344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379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4EAAA-9997-2527-AD50-A23B067FF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3️⃣ Plan de Pruebas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B8C80-4C22-82D5-78EC-277D97AD7ED9}"/>
              </a:ext>
            </a:extLst>
          </p:cNvPr>
          <p:cNvSpPr txBox="1"/>
          <p:nvPr/>
        </p:nvSpPr>
        <p:spPr>
          <a:xfrm>
            <a:off x="4654296" y="4798577"/>
            <a:ext cx="6894576" cy="14284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📁 </a:t>
            </a:r>
            <a:r>
              <a:rPr lang="en-US" sz="2200" b="1"/>
              <a:t>Evidencias:</a:t>
            </a:r>
            <a:r>
              <a:rPr lang="en-US" sz="2200"/>
              <a:t> carpeta /evidencias (Avance 4)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5089A67-C990-BD45-64CF-A1B80B742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441953"/>
              </p:ext>
            </p:extLst>
          </p:nvPr>
        </p:nvGraphicFramePr>
        <p:xfrm>
          <a:off x="4654296" y="779887"/>
          <a:ext cx="6894576" cy="3615733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1167180">
                  <a:extLst>
                    <a:ext uri="{9D8B030D-6E8A-4147-A177-3AD203B41FA5}">
                      <a16:colId xmlns:a16="http://schemas.microsoft.com/office/drawing/2014/main" val="748398555"/>
                    </a:ext>
                  </a:extLst>
                </a:gridCol>
                <a:gridCol w="2863698">
                  <a:extLst>
                    <a:ext uri="{9D8B030D-6E8A-4147-A177-3AD203B41FA5}">
                      <a16:colId xmlns:a16="http://schemas.microsoft.com/office/drawing/2014/main" val="1111934900"/>
                    </a:ext>
                  </a:extLst>
                </a:gridCol>
                <a:gridCol w="2863698">
                  <a:extLst>
                    <a:ext uri="{9D8B030D-6E8A-4147-A177-3AD203B41FA5}">
                      <a16:colId xmlns:a16="http://schemas.microsoft.com/office/drawing/2014/main" val="837860352"/>
                    </a:ext>
                  </a:extLst>
                </a:gridCol>
              </a:tblGrid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b="1"/>
                        <a:t>ID</a:t>
                      </a:r>
                      <a:endParaRPr lang="en-US" sz="1500"/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/>
                        <a:t>Caso</a:t>
                      </a:r>
                      <a:endParaRPr lang="en-US" sz="1500"/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 err="1"/>
                        <a:t>Resultado</a:t>
                      </a:r>
                      <a:endParaRPr lang="en-US" sz="1500" err="1"/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3818375972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TC-01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Login </a:t>
                      </a:r>
                      <a:r>
                        <a:rPr lang="en-US" sz="1500" err="1"/>
                        <a:t>correcto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</a:t>
                      </a:r>
                      <a:r>
                        <a:rPr lang="en-US" sz="1500" err="1"/>
                        <a:t>Acceso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validado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por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rol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3786985376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TC-02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Login </a:t>
                      </a:r>
                      <a:r>
                        <a:rPr lang="en-US" sz="1500" err="1"/>
                        <a:t>incorrecto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</a:t>
                      </a:r>
                      <a:r>
                        <a:rPr lang="en-US" sz="1500" err="1"/>
                        <a:t>Mensaje</a:t>
                      </a:r>
                      <a:r>
                        <a:rPr lang="en-US" sz="1500"/>
                        <a:t> de error </a:t>
                      </a:r>
                      <a:r>
                        <a:rPr lang="en-US" sz="1500" err="1"/>
                        <a:t>mostrado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1087736333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TC-03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err="1"/>
                        <a:t>Configuración</a:t>
                      </a:r>
                      <a:r>
                        <a:rPr lang="en-US" sz="1500"/>
                        <a:t> de red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Guardado </a:t>
                      </a:r>
                      <a:r>
                        <a:rPr lang="en-US" sz="1500" err="1"/>
                        <a:t>correcto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3103083201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TC-04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err="1"/>
                        <a:t>Escaneo</a:t>
                      </a:r>
                      <a:r>
                        <a:rPr lang="en-US" sz="1500"/>
                        <a:t> Nmap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</a:t>
                      </a:r>
                      <a:r>
                        <a:rPr lang="en-US" sz="1500" err="1"/>
                        <a:t>Dispositivos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actualizados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1621885876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TC-05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err="1"/>
                        <a:t>Importación</a:t>
                      </a:r>
                      <a:r>
                        <a:rPr lang="en-US" sz="1500"/>
                        <a:t> Pi-hole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Logs </a:t>
                      </a:r>
                      <a:r>
                        <a:rPr lang="en-US" sz="1500" err="1"/>
                        <a:t>únicos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por</a:t>
                      </a:r>
                      <a:r>
                        <a:rPr lang="en-US" sz="1500"/>
                        <a:t> día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2708996172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TC-06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err="1"/>
                        <a:t>Validación</a:t>
                      </a:r>
                      <a:r>
                        <a:rPr lang="en-US" sz="1500"/>
                        <a:t> MAC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</a:t>
                      </a:r>
                      <a:r>
                        <a:rPr lang="en-US" sz="1500" err="1"/>
                        <a:t>Bloqueo</a:t>
                      </a:r>
                      <a:r>
                        <a:rPr lang="en-US" sz="1500"/>
                        <a:t> de </a:t>
                      </a:r>
                      <a:r>
                        <a:rPr lang="en-US" sz="1500" err="1"/>
                        <a:t>duplicados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421520212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TC-07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err="1"/>
                        <a:t>Asignación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usuario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Registro </a:t>
                      </a:r>
                      <a:r>
                        <a:rPr lang="en-US" sz="1500" err="1"/>
                        <a:t>vigente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896743606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TC-08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Dashboard DNS </a:t>
                      </a:r>
                      <a:r>
                        <a:rPr lang="en-US" sz="1500" err="1"/>
                        <a:t>en</a:t>
                      </a:r>
                      <a:r>
                        <a:rPr lang="en-US" sz="1500"/>
                        <a:t> vivo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KPIs </a:t>
                      </a:r>
                      <a:r>
                        <a:rPr lang="en-US" sz="1500" err="1"/>
                        <a:t>en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tiempo</a:t>
                      </a:r>
                      <a:r>
                        <a:rPr lang="en-US" sz="1500"/>
                        <a:t> real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2878345789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TC-09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CRUD + </a:t>
                      </a:r>
                      <a:r>
                        <a:rPr lang="en-US" sz="1500" err="1"/>
                        <a:t>búsqueda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</a:t>
                      </a:r>
                      <a:r>
                        <a:rPr lang="en-US" sz="1500" err="1"/>
                        <a:t>Operaciones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correctas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398494719"/>
                  </a:ext>
                </a:extLst>
              </a:tr>
              <a:tr h="3287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TC-10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Export CSV</a:t>
                      </a:r>
                    </a:p>
                  </a:txBody>
                  <a:tcPr marL="74705" marR="74705" marT="37353" marB="37353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/>
                        <a:t>✅ </a:t>
                      </a:r>
                      <a:r>
                        <a:rPr lang="en-US" sz="1500" err="1"/>
                        <a:t>Archivo</a:t>
                      </a:r>
                      <a:r>
                        <a:rPr lang="en-US" sz="1500"/>
                        <a:t> </a:t>
                      </a:r>
                      <a:r>
                        <a:rPr lang="en-US" sz="1500" err="1"/>
                        <a:t>descargado</a:t>
                      </a:r>
                    </a:p>
                  </a:txBody>
                  <a:tcPr marL="74705" marR="74705" marT="37353" marB="37353" anchor="ctr"/>
                </a:tc>
                <a:extLst>
                  <a:ext uri="{0D108BD9-81ED-4DB2-BD59-A6C34878D82A}">
                    <a16:rowId xmlns:a16="http://schemas.microsoft.com/office/drawing/2014/main" val="383329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96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02F29-9556-F490-385B-4176A6911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sz="4100">
                <a:solidFill>
                  <a:srgbClr val="FFFFFF"/>
                </a:solidFill>
                <a:ea typeface="+mj-lt"/>
                <a:cs typeface="+mj-lt"/>
              </a:rPr>
              <a:t>4️⃣ Cobertura de Requerimientos Funcionales</a:t>
            </a:r>
            <a:endParaRPr lang="en-US" sz="4100">
              <a:solidFill>
                <a:srgbClr val="FFFFFF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A297D9-21D6-551F-3257-22AB67AB5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437092"/>
              </p:ext>
            </p:extLst>
          </p:nvPr>
        </p:nvGraphicFramePr>
        <p:xfrm>
          <a:off x="900567" y="1800911"/>
          <a:ext cx="10390867" cy="43513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82857">
                  <a:extLst>
                    <a:ext uri="{9D8B030D-6E8A-4147-A177-3AD203B41FA5}">
                      <a16:colId xmlns:a16="http://schemas.microsoft.com/office/drawing/2014/main" val="2624828238"/>
                    </a:ext>
                  </a:extLst>
                </a:gridCol>
                <a:gridCol w="7108010">
                  <a:extLst>
                    <a:ext uri="{9D8B030D-6E8A-4147-A177-3AD203B41FA5}">
                      <a16:colId xmlns:a16="http://schemas.microsoft.com/office/drawing/2014/main" val="4182470040"/>
                    </a:ext>
                  </a:extLst>
                </a:gridCol>
              </a:tblGrid>
              <a:tr h="543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/>
                        <a:t>Rango RF</a:t>
                      </a:r>
                      <a:endParaRPr lang="en-US" sz="2400"/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b="1"/>
                        <a:t>Estado</a:t>
                      </a:r>
                      <a:endParaRPr lang="en-US" sz="2400"/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74327"/>
                  </a:ext>
                </a:extLst>
              </a:tr>
              <a:tr h="543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RF01 – RF09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err="1"/>
                        <a:t>Completamente</a:t>
                      </a:r>
                      <a:r>
                        <a:rPr lang="en-US" sz="2400"/>
                        <a:t> </a:t>
                      </a:r>
                      <a:r>
                        <a:rPr lang="en-US" sz="2400" err="1"/>
                        <a:t>implementados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771634"/>
                  </a:ext>
                </a:extLst>
              </a:tr>
              <a:tr h="543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RF11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err="1"/>
                        <a:t>Auditoría</a:t>
                      </a:r>
                      <a:r>
                        <a:rPr lang="en-US" sz="2400"/>
                        <a:t> </a:t>
                      </a:r>
                      <a:r>
                        <a:rPr lang="en-US" sz="2400" err="1"/>
                        <a:t>pendiente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185373"/>
                  </a:ext>
                </a:extLst>
              </a:tr>
              <a:tr h="543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RF12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Fabricante (OUI) </a:t>
                      </a:r>
                      <a:r>
                        <a:rPr lang="en-US" sz="2400" err="1"/>
                        <a:t>implementado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67599"/>
                  </a:ext>
                </a:extLst>
              </a:tr>
              <a:tr h="543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RF13 – RF15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En </a:t>
                      </a:r>
                      <a:r>
                        <a:rPr lang="en-US" sz="2400" err="1"/>
                        <a:t>desarrollo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829615"/>
                  </a:ext>
                </a:extLst>
              </a:tr>
              <a:tr h="543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RF17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Backup </a:t>
                      </a:r>
                      <a:r>
                        <a:rPr lang="en-US" sz="2400" err="1"/>
                        <a:t>opcional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639108"/>
                  </a:ext>
                </a:extLst>
              </a:tr>
              <a:tr h="543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RF18 – RF19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Dashboard y DNS </a:t>
                      </a:r>
                      <a:r>
                        <a:rPr lang="en-US" sz="2400" err="1"/>
                        <a:t>en</a:t>
                      </a:r>
                      <a:r>
                        <a:rPr lang="en-US" sz="2400"/>
                        <a:t> </a:t>
                      </a:r>
                      <a:r>
                        <a:rPr lang="en-US" sz="2400" err="1"/>
                        <a:t>tiempo</a:t>
                      </a:r>
                      <a:r>
                        <a:rPr lang="en-US" sz="2400"/>
                        <a:t> real ✅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639471"/>
                  </a:ext>
                </a:extLst>
              </a:tr>
              <a:tr h="5439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RF20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err="1"/>
                        <a:t>Filtro</a:t>
                      </a:r>
                      <a:r>
                        <a:rPr lang="en-US" sz="2400"/>
                        <a:t> DNS </a:t>
                      </a:r>
                      <a:r>
                        <a:rPr lang="en-US" sz="2400" err="1"/>
                        <a:t>por</a:t>
                      </a:r>
                      <a:r>
                        <a:rPr lang="en-US" sz="2400"/>
                        <a:t> IP/</a:t>
                      </a:r>
                      <a:r>
                        <a:rPr lang="en-US" sz="2400" err="1"/>
                        <a:t>dominio</a:t>
                      </a:r>
                      <a:r>
                        <a:rPr lang="en-US" sz="2400"/>
                        <a:t> </a:t>
                      </a:r>
                      <a:r>
                        <a:rPr lang="en-US" sz="2400" err="1"/>
                        <a:t>parcial</a:t>
                      </a:r>
                    </a:p>
                  </a:txBody>
                  <a:tcPr marL="123618" marR="123618" marT="61809" marB="618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147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55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60B664-DD0F-2432-1AAC-1A58F61F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5️⃣ Mejoras Aplicadas</a:t>
            </a:r>
            <a:endParaRPr lang="en-US">
              <a:solidFill>
                <a:srgbClr val="FFFFFF"/>
              </a:solidFill>
            </a:endParaRP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E829F96-AC9C-6B6C-9FF1-0D69DA77EA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09968"/>
          <a:ext cx="10515600" cy="41332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4125">
                  <a:extLst>
                    <a:ext uri="{9D8B030D-6E8A-4147-A177-3AD203B41FA5}">
                      <a16:colId xmlns:a16="http://schemas.microsoft.com/office/drawing/2014/main" val="2516179556"/>
                    </a:ext>
                  </a:extLst>
                </a:gridCol>
                <a:gridCol w="6221475">
                  <a:extLst>
                    <a:ext uri="{9D8B030D-6E8A-4147-A177-3AD203B41FA5}">
                      <a16:colId xmlns:a16="http://schemas.microsoft.com/office/drawing/2014/main" val="2442037702"/>
                    </a:ext>
                  </a:extLst>
                </a:gridCol>
              </a:tblGrid>
              <a:tr h="4760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1"/>
                        <a:t>Área</a:t>
                      </a:r>
                      <a:endParaRPr lang="en-US" sz="2100"/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 b="1"/>
                        <a:t>Mejora Implementada</a:t>
                      </a:r>
                      <a:endParaRPr lang="en-US" sz="2100"/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199368"/>
                  </a:ext>
                </a:extLst>
              </a:tr>
              <a:tr h="4760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Validación MAC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Bloqueo de duplicados y mensaje claro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542006"/>
                  </a:ext>
                </a:extLst>
              </a:tr>
              <a:tr h="4760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Dashboard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KPIs de usuarios y consultas DNS en vivo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284890"/>
                  </a:ext>
                </a:extLst>
              </a:tr>
              <a:tr h="4760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Importación Pi-hole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Control de duplicados por fecha y dominio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286202"/>
                  </a:ext>
                </a:extLst>
              </a:tr>
              <a:tr h="4760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Interfaz Visual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Tema oscuro unificado y legible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830186"/>
                  </a:ext>
                </a:extLst>
              </a:tr>
              <a:tr h="8006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Base de Datos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Tablas </a:t>
                      </a:r>
                      <a:r>
                        <a:rPr lang="en-US" sz="2100">
                          <a:latin typeface="Courier New" panose="02070309020205020404" pitchFamily="49" charset="0"/>
                        </a:rPr>
                        <a:t>usuario_red</a:t>
                      </a:r>
                      <a:r>
                        <a:rPr lang="en-US" sz="2100"/>
                        <a:t> y </a:t>
                      </a:r>
                      <a:r>
                        <a:rPr lang="en-US" sz="2100">
                          <a:latin typeface="Courier New" panose="02070309020205020404" pitchFamily="49" charset="0"/>
                        </a:rPr>
                        <a:t>usuario_red_dispositivo</a:t>
                      </a:r>
                      <a:endParaRPr lang="en-US" sz="2100"/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451656"/>
                  </a:ext>
                </a:extLst>
              </a:tr>
              <a:tr h="4760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Export CSV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Reporte rápido del inventario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476088"/>
                  </a:ext>
                </a:extLst>
              </a:tr>
              <a:tr h="4760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GitHub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100"/>
                        <a:t>Commits detallados e issues cerrados</a:t>
                      </a:r>
                    </a:p>
                  </a:txBody>
                  <a:tcPr marL="108200" marR="108200" marT="54100" marB="54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877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07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86EE45-59F3-692F-FF77-A4E9BB91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6️⃣ Control de Versiones (GitHub)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246B5-8B28-8A7B-009E-3978F2227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📂 </a:t>
            </a:r>
            <a:r>
              <a:rPr lang="en-US" sz="2400" b="1" err="1">
                <a:ea typeface="+mn-lt"/>
                <a:cs typeface="+mn-lt"/>
              </a:rPr>
              <a:t>Repositorio</a:t>
            </a:r>
            <a:r>
              <a:rPr lang="en-US" sz="2400" b="1">
                <a:ea typeface="+mn-lt"/>
                <a:cs typeface="+mn-lt"/>
              </a:rPr>
              <a:t>: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>
                <a:latin typeface="Consolas"/>
              </a:rPr>
              <a:t>github.com/</a:t>
            </a:r>
            <a:r>
              <a:rPr lang="en-US" sz="2400" err="1">
                <a:latin typeface="Consolas"/>
              </a:rPr>
              <a:t>charli</a:t>
            </a:r>
            <a:r>
              <a:rPr lang="en-US" sz="2400">
                <a:latin typeface="Consolas"/>
              </a:rPr>
              <a:t>-hash/gestion-</a:t>
            </a:r>
            <a:r>
              <a:rPr lang="en-US" sz="2400" err="1">
                <a:latin typeface="Consolas"/>
              </a:rPr>
              <a:t>ip</a:t>
            </a:r>
            <a:r>
              <a:rPr lang="en-US" sz="2400">
                <a:latin typeface="Consolas"/>
              </a:rPr>
              <a:t>-mac-redes</a:t>
            </a:r>
            <a:br>
              <a:rPr lang="en-US" sz="2400">
                <a:latin typeface="Consolas"/>
              </a:rPr>
            </a:br>
            <a:r>
              <a:rPr lang="en-US" sz="2400">
                <a:latin typeface="Consolas"/>
              </a:rPr>
              <a:t> 🌿 </a:t>
            </a:r>
            <a:r>
              <a:rPr lang="en-US" sz="2400" b="1">
                <a:ea typeface="+mn-lt"/>
                <a:cs typeface="+mn-lt"/>
              </a:rPr>
              <a:t>Rama: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>
                <a:latin typeface="Consolas"/>
              </a:rPr>
              <a:t>avance3-mejoras</a:t>
            </a:r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Commits </a:t>
            </a:r>
            <a:r>
              <a:rPr lang="en-US" sz="2400" b="1" err="1">
                <a:ea typeface="+mn-lt"/>
                <a:cs typeface="+mn-lt"/>
              </a:rPr>
              <a:t>principales</a:t>
            </a:r>
            <a:r>
              <a:rPr lang="en-US" sz="2400" b="1">
                <a:ea typeface="+mn-lt"/>
                <a:cs typeface="+mn-lt"/>
              </a:rPr>
              <a:t>: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“</a:t>
            </a:r>
            <a:r>
              <a:rPr lang="en-US" sz="2400" err="1">
                <a:ea typeface="+mn-lt"/>
                <a:cs typeface="+mn-lt"/>
              </a:rPr>
              <a:t>Integrado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módulo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usuario_red</a:t>
            </a:r>
            <a:r>
              <a:rPr lang="en-US" sz="2400">
                <a:ea typeface="+mn-lt"/>
                <a:cs typeface="+mn-lt"/>
              </a:rPr>
              <a:t> y </a:t>
            </a:r>
            <a:r>
              <a:rPr lang="en-US" sz="2400" err="1">
                <a:ea typeface="+mn-lt"/>
                <a:cs typeface="+mn-lt"/>
              </a:rPr>
              <a:t>asignaciones</a:t>
            </a:r>
            <a:r>
              <a:rPr lang="en-US" sz="2400">
                <a:ea typeface="+mn-lt"/>
                <a:cs typeface="+mn-lt"/>
              </a:rPr>
              <a:t>”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“</a:t>
            </a:r>
            <a:r>
              <a:rPr lang="en-US" sz="2400" err="1">
                <a:ea typeface="+mn-lt"/>
                <a:cs typeface="+mn-lt"/>
              </a:rPr>
              <a:t>Validación</a:t>
            </a:r>
            <a:r>
              <a:rPr lang="en-US" sz="2400">
                <a:ea typeface="+mn-lt"/>
                <a:cs typeface="+mn-lt"/>
              </a:rPr>
              <a:t> MAC </a:t>
            </a:r>
            <a:r>
              <a:rPr lang="en-US" sz="2400" err="1">
                <a:ea typeface="+mn-lt"/>
                <a:cs typeface="+mn-lt"/>
              </a:rPr>
              <a:t>duplicadas</a:t>
            </a:r>
            <a:r>
              <a:rPr lang="en-US" sz="2400">
                <a:ea typeface="+mn-lt"/>
                <a:cs typeface="+mn-lt"/>
              </a:rPr>
              <a:t>”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“KPIs </a:t>
            </a:r>
            <a:r>
              <a:rPr lang="en-US" sz="2400" err="1">
                <a:ea typeface="+mn-lt"/>
                <a:cs typeface="+mn-lt"/>
              </a:rPr>
              <a:t>usuarios</a:t>
            </a:r>
            <a:r>
              <a:rPr lang="en-US" sz="2400">
                <a:ea typeface="+mn-lt"/>
                <a:cs typeface="+mn-lt"/>
              </a:rPr>
              <a:t> de red </a:t>
            </a:r>
            <a:r>
              <a:rPr lang="en-US" sz="2400" err="1">
                <a:ea typeface="+mn-lt"/>
                <a:cs typeface="+mn-lt"/>
              </a:rPr>
              <a:t>en</a:t>
            </a:r>
            <a:r>
              <a:rPr lang="en-US" sz="2400">
                <a:ea typeface="+mn-lt"/>
                <a:cs typeface="+mn-lt"/>
              </a:rPr>
              <a:t> Dashboard”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“</a:t>
            </a:r>
            <a:r>
              <a:rPr lang="en-US" sz="2400" err="1">
                <a:ea typeface="+mn-lt"/>
                <a:cs typeface="+mn-lt"/>
              </a:rPr>
              <a:t>Importación</a:t>
            </a:r>
            <a:r>
              <a:rPr lang="en-US" sz="2400">
                <a:ea typeface="+mn-lt"/>
                <a:cs typeface="+mn-lt"/>
              </a:rPr>
              <a:t> Pi-hole </a:t>
            </a:r>
            <a:r>
              <a:rPr lang="en-US" sz="2400" err="1">
                <a:ea typeface="+mn-lt"/>
                <a:cs typeface="+mn-lt"/>
              </a:rPr>
              <a:t>mejorada</a:t>
            </a:r>
            <a:r>
              <a:rPr lang="en-US" sz="2400">
                <a:ea typeface="+mn-lt"/>
                <a:cs typeface="+mn-lt"/>
              </a:rPr>
              <a:t>”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“Tema </a:t>
            </a:r>
            <a:r>
              <a:rPr lang="en-US" sz="2400" err="1">
                <a:ea typeface="+mn-lt"/>
                <a:cs typeface="+mn-lt"/>
              </a:rPr>
              <a:t>oscuro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unificado</a:t>
            </a:r>
            <a:r>
              <a:rPr lang="en-US" sz="2400">
                <a:ea typeface="+mn-lt"/>
                <a:cs typeface="+mn-lt"/>
              </a:rPr>
              <a:t> (UX/UI)”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✅ </a:t>
            </a:r>
            <a:r>
              <a:rPr lang="en-US" sz="2400" b="1">
                <a:ea typeface="+mn-lt"/>
                <a:cs typeface="+mn-lt"/>
              </a:rPr>
              <a:t>Issues </a:t>
            </a:r>
            <a:r>
              <a:rPr lang="en-US" sz="2400" b="1" err="1">
                <a:ea typeface="+mn-lt"/>
                <a:cs typeface="+mn-lt"/>
              </a:rPr>
              <a:t>cerrados</a:t>
            </a:r>
            <a:r>
              <a:rPr lang="en-US" sz="2400" b="1">
                <a:ea typeface="+mn-lt"/>
                <a:cs typeface="+mn-lt"/>
              </a:rPr>
              <a:t>:</a:t>
            </a:r>
            <a:br>
              <a:rPr lang="en-US" sz="2400" b="1">
                <a:ea typeface="+mn-lt"/>
                <a:cs typeface="+mn-lt"/>
              </a:rPr>
            </a:br>
            <a:r>
              <a:rPr lang="en-US" sz="2400" b="1">
                <a:ea typeface="+mn-lt"/>
                <a:cs typeface="+mn-lt"/>
              </a:rPr>
              <a:t> #12 – MAC </a:t>
            </a:r>
            <a:r>
              <a:rPr lang="en-US" sz="2400" b="1" err="1">
                <a:ea typeface="+mn-lt"/>
                <a:cs typeface="+mn-lt"/>
              </a:rPr>
              <a:t>duplicada</a:t>
            </a:r>
            <a:r>
              <a:rPr lang="en-US" sz="2400" b="1">
                <a:ea typeface="+mn-lt"/>
                <a:cs typeface="+mn-lt"/>
              </a:rPr>
              <a:t> | #13 – KPIs | #14 – Pi-hole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7563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27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7C553E-5A59-6083-CD75-6F98C9F5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📘 Glosario – Avance 4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2C194-254B-263D-C8DC-3BF8B639B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usuario_red: Tabla para registrar los usuarios asignables a dispositivos. </a:t>
            </a:r>
            <a:endParaRPr lang="en-US" sz="1700" noProof="1">
              <a:solidFill>
                <a:schemeClr val="tx2"/>
              </a:solidFill>
            </a:endParaRPr>
          </a:p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usuario_red_dispositivo: Relación entre usuario y dispositivo con fechas vigentes. </a:t>
            </a:r>
            <a:endParaRPr lang="en-US" sz="1700" noProof="1">
              <a:solidFill>
                <a:schemeClr val="tx2"/>
              </a:solidFill>
            </a:endParaRPr>
          </a:p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dns_logs: Registro de consultas DNS importadas desde Pi-hole. </a:t>
            </a:r>
            <a:endParaRPr lang="en-US" sz="1700" noProof="1">
              <a:solidFill>
                <a:schemeClr val="tx2"/>
              </a:solidFill>
            </a:endParaRPr>
          </a:p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dns_realtime.php: Módulo que muestra consultas DNS en tiempo real. </a:t>
            </a:r>
            <a:endParaRPr lang="en-US" sz="1700" noProof="1">
              <a:solidFill>
                <a:schemeClr val="tx2"/>
              </a:solidFill>
            </a:endParaRPr>
          </a:p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KPIs: Indicadores de rendimiento en el dashboard (usuarios, DNS, activos). </a:t>
            </a:r>
            <a:endParaRPr lang="en-US" sz="1700" noProof="1">
              <a:solidFill>
                <a:schemeClr val="tx2"/>
              </a:solidFill>
            </a:endParaRPr>
          </a:p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export_csv.php: Genera reportes de inventario descargables. </a:t>
            </a:r>
            <a:endParaRPr lang="en-US" sz="1700" noProof="1">
              <a:solidFill>
                <a:schemeClr val="tx2"/>
              </a:solidFill>
            </a:endParaRPr>
          </a:p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auditoria.php: Muestra las acciones del sistema (login, edición, exportación). </a:t>
            </a:r>
            <a:endParaRPr lang="en-US" sz="1700" noProof="1">
              <a:solidFill>
                <a:schemeClr val="tx2"/>
              </a:solidFill>
            </a:endParaRPr>
          </a:p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Tema oscuro (UI/UX): Diseño visual unificado y de mejor legibilidad. </a:t>
            </a:r>
            <a:endParaRPr lang="en-US" sz="1700" noProof="1">
              <a:solidFill>
                <a:schemeClr val="tx2"/>
              </a:solidFill>
            </a:endParaRPr>
          </a:p>
          <a:p>
            <a:r>
              <a:rPr lang="en-US" sz="1700" noProof="1">
                <a:solidFill>
                  <a:schemeClr val="tx2"/>
                </a:solidFill>
                <a:ea typeface="+mn-lt"/>
                <a:cs typeface="+mn-lt"/>
              </a:rPr>
              <a:t>Soft Delete: Eliminación lógica que conserva la integridad de los datos. </a:t>
            </a:r>
            <a:endParaRPr lang="en-US" sz="1700" noProof="1">
              <a:solidFill>
                <a:schemeClr val="tx2"/>
              </a:solidFill>
            </a:endParaRPr>
          </a:p>
          <a:p>
            <a:endParaRPr lang="en-US" sz="17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501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889F57-7D77-1CC4-E573-59FDC208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7️⃣ Conclusión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27ACE-3AAB-1C07-E531-9F4619431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✅ Sistema funcional en entorno </a:t>
            </a:r>
            <a:r>
              <a:rPr lang="en-US" sz="2000" b="1">
                <a:ea typeface="+mn-lt"/>
                <a:cs typeface="+mn-lt"/>
              </a:rPr>
              <a:t>XAMPP (localhost)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 ✅ Validaciones de MAC y DNS efectivas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 ✅ Módulos de usuarios de red operativos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 ✅ Interfaz oscura coherente y moderna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 ✅ Control de versiones activo y documentado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🎯 </a:t>
            </a:r>
            <a:r>
              <a:rPr lang="en-US" sz="2000" b="1">
                <a:ea typeface="+mn-lt"/>
                <a:cs typeface="+mn-lt"/>
              </a:rPr>
              <a:t>El proyecto se encuentra estable, documentado y listo para la etapa final de despliegue.</a:t>
            </a:r>
            <a:endParaRPr lang="en-US" sz="2000"/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5AC504-0C00-DBED-3443-D6A25CFDC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60" r="44661" b="7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2492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Tema de Office</vt:lpstr>
      <vt:lpstr>Avance 2 – Sistema de Gestión de IP y MAC con Nmap y Pi-hole </vt:lpstr>
      <vt:lpstr>1️⃣ Objetivo del Proyecto</vt:lpstr>
      <vt:lpstr>2️⃣ Módulos Principales</vt:lpstr>
      <vt:lpstr>3️⃣ Plan de Pruebas</vt:lpstr>
      <vt:lpstr>4️⃣ Cobertura de Requerimientos Funcionales</vt:lpstr>
      <vt:lpstr>5️⃣ Mejoras Aplicadas </vt:lpstr>
      <vt:lpstr>6️⃣ Control de Versiones (GitHub)</vt:lpstr>
      <vt:lpstr>📘 Glosario – Avance 4 </vt:lpstr>
      <vt:lpstr>7️⃣ 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73</cp:revision>
  <dcterms:created xsi:type="dcterms:W3CDTF">2025-11-26T02:04:17Z</dcterms:created>
  <dcterms:modified xsi:type="dcterms:W3CDTF">2025-11-30T20:51:51Z</dcterms:modified>
</cp:coreProperties>
</file>