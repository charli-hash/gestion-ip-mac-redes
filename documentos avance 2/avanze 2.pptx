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9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1339C5-BC82-04B1-5434-07ABC6300910}" v="10" dt="2025-11-12T03:12:38.499"/>
    <p1510:client id="{FF6F09EA-2413-ED55-9B09-87DE36D9415C}" v="330" dt="2025-11-12T12:36:59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AB226-E8BC-426B-82A5-6FED0DEE856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06F9334-9C19-4527-AB83-9767B3471243}">
      <dgm:prSet/>
      <dgm:spPr/>
      <dgm:t>
        <a:bodyPr/>
        <a:lstStyle/>
        <a:p>
          <a:r>
            <a:rPr lang="en-US"/>
            <a:t>Híbrida (Scrum + Cascada) Combina la planificación estructurada con la iteración ágil. Etapas:</a:t>
          </a:r>
        </a:p>
      </dgm:t>
    </dgm:pt>
    <dgm:pt modelId="{C6B978C1-FB9C-4CBB-8B0A-0063B6CCE985}" type="parTrans" cxnId="{F742C5F5-D65E-4C64-AAD4-F5FF90999628}">
      <dgm:prSet/>
      <dgm:spPr/>
      <dgm:t>
        <a:bodyPr/>
        <a:lstStyle/>
        <a:p>
          <a:endParaRPr lang="en-US"/>
        </a:p>
      </dgm:t>
    </dgm:pt>
    <dgm:pt modelId="{0F37BBE4-C96C-416E-96EB-F4A8201663A1}" type="sibTrans" cxnId="{F742C5F5-D65E-4C64-AAD4-F5FF90999628}">
      <dgm:prSet/>
      <dgm:spPr/>
      <dgm:t>
        <a:bodyPr/>
        <a:lstStyle/>
        <a:p>
          <a:endParaRPr lang="en-US"/>
        </a:p>
      </dgm:t>
    </dgm:pt>
    <dgm:pt modelId="{82B87984-1854-4818-ACE1-9BD11F650304}">
      <dgm:prSet/>
      <dgm:spPr/>
      <dgm:t>
        <a:bodyPr/>
        <a:lstStyle/>
        <a:p>
          <a:r>
            <a:rPr lang="en-US"/>
            <a:t>Análisis</a:t>
          </a:r>
        </a:p>
      </dgm:t>
    </dgm:pt>
    <dgm:pt modelId="{6222CD35-5CAA-42B8-A9A6-A2F7BC249947}" type="parTrans" cxnId="{17C65008-027C-4C66-B395-E220BC631530}">
      <dgm:prSet/>
      <dgm:spPr/>
      <dgm:t>
        <a:bodyPr/>
        <a:lstStyle/>
        <a:p>
          <a:endParaRPr lang="en-US"/>
        </a:p>
      </dgm:t>
    </dgm:pt>
    <dgm:pt modelId="{B587CECC-6363-4E10-8E01-6C9A92B49E9B}" type="sibTrans" cxnId="{17C65008-027C-4C66-B395-E220BC631530}">
      <dgm:prSet/>
      <dgm:spPr/>
      <dgm:t>
        <a:bodyPr/>
        <a:lstStyle/>
        <a:p>
          <a:endParaRPr lang="en-US"/>
        </a:p>
      </dgm:t>
    </dgm:pt>
    <dgm:pt modelId="{8B545092-644D-4EF8-B97B-5CCF6320BBAE}">
      <dgm:prSet/>
      <dgm:spPr/>
      <dgm:t>
        <a:bodyPr/>
        <a:lstStyle/>
        <a:p>
          <a:r>
            <a:rPr lang="en-US"/>
            <a:t>Diseño</a:t>
          </a:r>
        </a:p>
      </dgm:t>
    </dgm:pt>
    <dgm:pt modelId="{5F0D3DFB-8DCC-4C62-A576-C5B6E45CE8E8}" type="parTrans" cxnId="{5BF23D16-FE67-479A-AF37-2D3D9B9CF0EB}">
      <dgm:prSet/>
      <dgm:spPr/>
      <dgm:t>
        <a:bodyPr/>
        <a:lstStyle/>
        <a:p>
          <a:endParaRPr lang="en-US"/>
        </a:p>
      </dgm:t>
    </dgm:pt>
    <dgm:pt modelId="{C0B94729-E93F-4F7F-A6E6-3580D7A9EAFB}" type="sibTrans" cxnId="{5BF23D16-FE67-479A-AF37-2D3D9B9CF0EB}">
      <dgm:prSet/>
      <dgm:spPr/>
      <dgm:t>
        <a:bodyPr/>
        <a:lstStyle/>
        <a:p>
          <a:endParaRPr lang="en-US"/>
        </a:p>
      </dgm:t>
    </dgm:pt>
    <dgm:pt modelId="{4D59F700-DCF8-469F-869A-16997E5939A4}">
      <dgm:prSet/>
      <dgm:spPr/>
      <dgm:t>
        <a:bodyPr/>
        <a:lstStyle/>
        <a:p>
          <a:r>
            <a:rPr lang="en-US"/>
            <a:t>Desarrollo</a:t>
          </a:r>
        </a:p>
      </dgm:t>
    </dgm:pt>
    <dgm:pt modelId="{B6D0844A-BCF3-416B-9CF3-63D1C103714C}" type="parTrans" cxnId="{EFA62F26-51EB-4690-A795-28A4B3240140}">
      <dgm:prSet/>
      <dgm:spPr/>
      <dgm:t>
        <a:bodyPr/>
        <a:lstStyle/>
        <a:p>
          <a:endParaRPr lang="en-US"/>
        </a:p>
      </dgm:t>
    </dgm:pt>
    <dgm:pt modelId="{7EB5BF3B-C9F1-49E0-BF3D-8F8E573D584E}" type="sibTrans" cxnId="{EFA62F26-51EB-4690-A795-28A4B3240140}">
      <dgm:prSet/>
      <dgm:spPr/>
      <dgm:t>
        <a:bodyPr/>
        <a:lstStyle/>
        <a:p>
          <a:endParaRPr lang="en-US"/>
        </a:p>
      </dgm:t>
    </dgm:pt>
    <dgm:pt modelId="{5D6C5D48-D923-4542-995D-440B5758BC72}">
      <dgm:prSet/>
      <dgm:spPr/>
      <dgm:t>
        <a:bodyPr/>
        <a:lstStyle/>
        <a:p>
          <a:r>
            <a:rPr lang="en-US"/>
            <a:t>Integración</a:t>
          </a:r>
        </a:p>
      </dgm:t>
    </dgm:pt>
    <dgm:pt modelId="{9D256AD0-59EF-474E-931C-E614270F6A62}" type="parTrans" cxnId="{CC588A65-0A65-4E7A-893F-FEB54C268421}">
      <dgm:prSet/>
      <dgm:spPr/>
      <dgm:t>
        <a:bodyPr/>
        <a:lstStyle/>
        <a:p>
          <a:endParaRPr lang="en-US"/>
        </a:p>
      </dgm:t>
    </dgm:pt>
    <dgm:pt modelId="{1A5E33C2-F6FA-4577-9680-3E85B1395B14}" type="sibTrans" cxnId="{CC588A65-0A65-4E7A-893F-FEB54C268421}">
      <dgm:prSet/>
      <dgm:spPr/>
      <dgm:t>
        <a:bodyPr/>
        <a:lstStyle/>
        <a:p>
          <a:endParaRPr lang="en-US"/>
        </a:p>
      </dgm:t>
    </dgm:pt>
    <dgm:pt modelId="{9BF02DFF-EECD-4D2C-86B6-E5B9CB8F78A5}">
      <dgm:prSet/>
      <dgm:spPr/>
      <dgm:t>
        <a:bodyPr/>
        <a:lstStyle/>
        <a:p>
          <a:r>
            <a:rPr lang="en-US"/>
            <a:t>Pruebas</a:t>
          </a:r>
        </a:p>
      </dgm:t>
    </dgm:pt>
    <dgm:pt modelId="{A3CCEDFB-6112-4A3C-A33A-C8B19D989DC9}" type="parTrans" cxnId="{A8F4FA1A-486B-4891-BF04-E05A7F219149}">
      <dgm:prSet/>
      <dgm:spPr/>
      <dgm:t>
        <a:bodyPr/>
        <a:lstStyle/>
        <a:p>
          <a:endParaRPr lang="en-US"/>
        </a:p>
      </dgm:t>
    </dgm:pt>
    <dgm:pt modelId="{348A8E7E-1ED6-4F06-BA58-6B31A9636300}" type="sibTrans" cxnId="{A8F4FA1A-486B-4891-BF04-E05A7F219149}">
      <dgm:prSet/>
      <dgm:spPr/>
      <dgm:t>
        <a:bodyPr/>
        <a:lstStyle/>
        <a:p>
          <a:endParaRPr lang="en-US"/>
        </a:p>
      </dgm:t>
    </dgm:pt>
    <dgm:pt modelId="{785D8305-DFFB-4D58-A716-FCC7A1383DC3}" type="pres">
      <dgm:prSet presAssocID="{6FDAB226-E8BC-426B-82A5-6FED0DEE856E}" presName="Name0" presStyleCnt="0">
        <dgm:presLayoutVars>
          <dgm:dir/>
          <dgm:resizeHandles val="exact"/>
        </dgm:presLayoutVars>
      </dgm:prSet>
      <dgm:spPr/>
    </dgm:pt>
    <dgm:pt modelId="{D4111966-9B77-413D-AD6A-BE0AA24002EB}" type="pres">
      <dgm:prSet presAssocID="{906F9334-9C19-4527-AB83-9767B3471243}" presName="node" presStyleLbl="node1" presStyleIdx="0" presStyleCnt="6">
        <dgm:presLayoutVars>
          <dgm:bulletEnabled val="1"/>
        </dgm:presLayoutVars>
      </dgm:prSet>
      <dgm:spPr/>
    </dgm:pt>
    <dgm:pt modelId="{57C15011-240B-467B-B5CC-C56D01C0F49B}" type="pres">
      <dgm:prSet presAssocID="{0F37BBE4-C96C-416E-96EB-F4A8201663A1}" presName="sibTrans" presStyleLbl="sibTrans1D1" presStyleIdx="0" presStyleCnt="5"/>
      <dgm:spPr/>
    </dgm:pt>
    <dgm:pt modelId="{88465D46-057C-46E6-90CF-A4DD3DFB8BE1}" type="pres">
      <dgm:prSet presAssocID="{0F37BBE4-C96C-416E-96EB-F4A8201663A1}" presName="connectorText" presStyleLbl="sibTrans1D1" presStyleIdx="0" presStyleCnt="5"/>
      <dgm:spPr/>
    </dgm:pt>
    <dgm:pt modelId="{C4ED866F-6489-4DD8-9A43-5284B43E4A93}" type="pres">
      <dgm:prSet presAssocID="{82B87984-1854-4818-ACE1-9BD11F650304}" presName="node" presStyleLbl="node1" presStyleIdx="1" presStyleCnt="6">
        <dgm:presLayoutVars>
          <dgm:bulletEnabled val="1"/>
        </dgm:presLayoutVars>
      </dgm:prSet>
      <dgm:spPr/>
    </dgm:pt>
    <dgm:pt modelId="{A0D62EA8-6E04-4987-924C-24BF9E553C97}" type="pres">
      <dgm:prSet presAssocID="{B587CECC-6363-4E10-8E01-6C9A92B49E9B}" presName="sibTrans" presStyleLbl="sibTrans1D1" presStyleIdx="1" presStyleCnt="5"/>
      <dgm:spPr/>
    </dgm:pt>
    <dgm:pt modelId="{F7CEE597-F3C3-4A53-9881-63802EAB9B4C}" type="pres">
      <dgm:prSet presAssocID="{B587CECC-6363-4E10-8E01-6C9A92B49E9B}" presName="connectorText" presStyleLbl="sibTrans1D1" presStyleIdx="1" presStyleCnt="5"/>
      <dgm:spPr/>
    </dgm:pt>
    <dgm:pt modelId="{8EE8F5AA-00A7-4944-861C-5976B6286882}" type="pres">
      <dgm:prSet presAssocID="{8B545092-644D-4EF8-B97B-5CCF6320BBAE}" presName="node" presStyleLbl="node1" presStyleIdx="2" presStyleCnt="6">
        <dgm:presLayoutVars>
          <dgm:bulletEnabled val="1"/>
        </dgm:presLayoutVars>
      </dgm:prSet>
      <dgm:spPr/>
    </dgm:pt>
    <dgm:pt modelId="{F0F55662-5B00-4A13-9914-AC691FE5D81B}" type="pres">
      <dgm:prSet presAssocID="{C0B94729-E93F-4F7F-A6E6-3580D7A9EAFB}" presName="sibTrans" presStyleLbl="sibTrans1D1" presStyleIdx="2" presStyleCnt="5"/>
      <dgm:spPr/>
    </dgm:pt>
    <dgm:pt modelId="{2535F706-E8DD-4D61-B955-1276653A920F}" type="pres">
      <dgm:prSet presAssocID="{C0B94729-E93F-4F7F-A6E6-3580D7A9EAFB}" presName="connectorText" presStyleLbl="sibTrans1D1" presStyleIdx="2" presStyleCnt="5"/>
      <dgm:spPr/>
    </dgm:pt>
    <dgm:pt modelId="{FE0B0E3A-ACC0-43F4-891C-95EAE749EF1B}" type="pres">
      <dgm:prSet presAssocID="{4D59F700-DCF8-469F-869A-16997E5939A4}" presName="node" presStyleLbl="node1" presStyleIdx="3" presStyleCnt="6">
        <dgm:presLayoutVars>
          <dgm:bulletEnabled val="1"/>
        </dgm:presLayoutVars>
      </dgm:prSet>
      <dgm:spPr/>
    </dgm:pt>
    <dgm:pt modelId="{5F4984E7-A890-4591-85D5-6804D5546D18}" type="pres">
      <dgm:prSet presAssocID="{7EB5BF3B-C9F1-49E0-BF3D-8F8E573D584E}" presName="sibTrans" presStyleLbl="sibTrans1D1" presStyleIdx="3" presStyleCnt="5"/>
      <dgm:spPr/>
    </dgm:pt>
    <dgm:pt modelId="{0DFFEB4B-AAEC-4247-B20B-C881519A9791}" type="pres">
      <dgm:prSet presAssocID="{7EB5BF3B-C9F1-49E0-BF3D-8F8E573D584E}" presName="connectorText" presStyleLbl="sibTrans1D1" presStyleIdx="3" presStyleCnt="5"/>
      <dgm:spPr/>
    </dgm:pt>
    <dgm:pt modelId="{9901F1A5-A1F3-4620-822E-0FD9EBD69F1D}" type="pres">
      <dgm:prSet presAssocID="{5D6C5D48-D923-4542-995D-440B5758BC72}" presName="node" presStyleLbl="node1" presStyleIdx="4" presStyleCnt="6">
        <dgm:presLayoutVars>
          <dgm:bulletEnabled val="1"/>
        </dgm:presLayoutVars>
      </dgm:prSet>
      <dgm:spPr/>
    </dgm:pt>
    <dgm:pt modelId="{D58E3530-0ED6-46A0-9749-858D63E88569}" type="pres">
      <dgm:prSet presAssocID="{1A5E33C2-F6FA-4577-9680-3E85B1395B14}" presName="sibTrans" presStyleLbl="sibTrans1D1" presStyleIdx="4" presStyleCnt="5"/>
      <dgm:spPr/>
    </dgm:pt>
    <dgm:pt modelId="{FF8078A0-B393-4DD8-8A62-23A599903926}" type="pres">
      <dgm:prSet presAssocID="{1A5E33C2-F6FA-4577-9680-3E85B1395B14}" presName="connectorText" presStyleLbl="sibTrans1D1" presStyleIdx="4" presStyleCnt="5"/>
      <dgm:spPr/>
    </dgm:pt>
    <dgm:pt modelId="{EDC11D8C-0FD8-4B5B-97BA-F3E6BF674C4B}" type="pres">
      <dgm:prSet presAssocID="{9BF02DFF-EECD-4D2C-86B6-E5B9CB8F78A5}" presName="node" presStyleLbl="node1" presStyleIdx="5" presStyleCnt="6">
        <dgm:presLayoutVars>
          <dgm:bulletEnabled val="1"/>
        </dgm:presLayoutVars>
      </dgm:prSet>
      <dgm:spPr/>
    </dgm:pt>
  </dgm:ptLst>
  <dgm:cxnLst>
    <dgm:cxn modelId="{17C65008-027C-4C66-B395-E220BC631530}" srcId="{6FDAB226-E8BC-426B-82A5-6FED0DEE856E}" destId="{82B87984-1854-4818-ACE1-9BD11F650304}" srcOrd="1" destOrd="0" parTransId="{6222CD35-5CAA-42B8-A9A6-A2F7BC249947}" sibTransId="{B587CECC-6363-4E10-8E01-6C9A92B49E9B}"/>
    <dgm:cxn modelId="{9BC42613-27AB-4363-A91A-2D27DE750BAC}" type="presOf" srcId="{1A5E33C2-F6FA-4577-9680-3E85B1395B14}" destId="{D58E3530-0ED6-46A0-9749-858D63E88569}" srcOrd="0" destOrd="0" presId="urn:microsoft.com/office/officeart/2016/7/layout/RepeatingBendingProcessNew"/>
    <dgm:cxn modelId="{5BF23D16-FE67-479A-AF37-2D3D9B9CF0EB}" srcId="{6FDAB226-E8BC-426B-82A5-6FED0DEE856E}" destId="{8B545092-644D-4EF8-B97B-5CCF6320BBAE}" srcOrd="2" destOrd="0" parTransId="{5F0D3DFB-8DCC-4C62-A576-C5B6E45CE8E8}" sibTransId="{C0B94729-E93F-4F7F-A6E6-3580D7A9EAFB}"/>
    <dgm:cxn modelId="{4E6E3117-09D6-4704-8474-AA5314C78414}" type="presOf" srcId="{0F37BBE4-C96C-416E-96EB-F4A8201663A1}" destId="{57C15011-240B-467B-B5CC-C56D01C0F49B}" srcOrd="0" destOrd="0" presId="urn:microsoft.com/office/officeart/2016/7/layout/RepeatingBendingProcessNew"/>
    <dgm:cxn modelId="{A8F4FA1A-486B-4891-BF04-E05A7F219149}" srcId="{6FDAB226-E8BC-426B-82A5-6FED0DEE856E}" destId="{9BF02DFF-EECD-4D2C-86B6-E5B9CB8F78A5}" srcOrd="5" destOrd="0" parTransId="{A3CCEDFB-6112-4A3C-A33A-C8B19D989DC9}" sibTransId="{348A8E7E-1ED6-4F06-BA58-6B31A9636300}"/>
    <dgm:cxn modelId="{EFA62F26-51EB-4690-A795-28A4B3240140}" srcId="{6FDAB226-E8BC-426B-82A5-6FED0DEE856E}" destId="{4D59F700-DCF8-469F-869A-16997E5939A4}" srcOrd="3" destOrd="0" parTransId="{B6D0844A-BCF3-416B-9CF3-63D1C103714C}" sibTransId="{7EB5BF3B-C9F1-49E0-BF3D-8F8E573D584E}"/>
    <dgm:cxn modelId="{8EC3655F-F3E3-473A-A22D-57E21AC12880}" type="presOf" srcId="{6FDAB226-E8BC-426B-82A5-6FED0DEE856E}" destId="{785D8305-DFFB-4D58-A716-FCC7A1383DC3}" srcOrd="0" destOrd="0" presId="urn:microsoft.com/office/officeart/2016/7/layout/RepeatingBendingProcessNew"/>
    <dgm:cxn modelId="{D6A7CC62-3243-4631-890A-8EDFED2B6E81}" type="presOf" srcId="{C0B94729-E93F-4F7F-A6E6-3580D7A9EAFB}" destId="{2535F706-E8DD-4D61-B955-1276653A920F}" srcOrd="1" destOrd="0" presId="urn:microsoft.com/office/officeart/2016/7/layout/RepeatingBendingProcessNew"/>
    <dgm:cxn modelId="{CC588A65-0A65-4E7A-893F-FEB54C268421}" srcId="{6FDAB226-E8BC-426B-82A5-6FED0DEE856E}" destId="{5D6C5D48-D923-4542-995D-440B5758BC72}" srcOrd="4" destOrd="0" parTransId="{9D256AD0-59EF-474E-931C-E614270F6A62}" sibTransId="{1A5E33C2-F6FA-4577-9680-3E85B1395B14}"/>
    <dgm:cxn modelId="{27E93F69-7D2E-45E3-B008-12FD85D2BA3C}" type="presOf" srcId="{B587CECC-6363-4E10-8E01-6C9A92B49E9B}" destId="{F7CEE597-F3C3-4A53-9881-63802EAB9B4C}" srcOrd="1" destOrd="0" presId="urn:microsoft.com/office/officeart/2016/7/layout/RepeatingBendingProcessNew"/>
    <dgm:cxn modelId="{C1AC1F53-7AFF-4F84-B673-D500D41BE78A}" type="presOf" srcId="{1A5E33C2-F6FA-4577-9680-3E85B1395B14}" destId="{FF8078A0-B393-4DD8-8A62-23A599903926}" srcOrd="1" destOrd="0" presId="urn:microsoft.com/office/officeart/2016/7/layout/RepeatingBendingProcessNew"/>
    <dgm:cxn modelId="{A48A6C7E-51BE-4B6E-ACE1-7E8F098CED20}" type="presOf" srcId="{5D6C5D48-D923-4542-995D-440B5758BC72}" destId="{9901F1A5-A1F3-4620-822E-0FD9EBD69F1D}" srcOrd="0" destOrd="0" presId="urn:microsoft.com/office/officeart/2016/7/layout/RepeatingBendingProcessNew"/>
    <dgm:cxn modelId="{4DA6AB88-4480-46FF-98AA-260EAA7B48AA}" type="presOf" srcId="{B587CECC-6363-4E10-8E01-6C9A92B49E9B}" destId="{A0D62EA8-6E04-4987-924C-24BF9E553C97}" srcOrd="0" destOrd="0" presId="urn:microsoft.com/office/officeart/2016/7/layout/RepeatingBendingProcessNew"/>
    <dgm:cxn modelId="{8FC63BA9-2A4F-40C6-9FF8-2762137C4163}" type="presOf" srcId="{7EB5BF3B-C9F1-49E0-BF3D-8F8E573D584E}" destId="{0DFFEB4B-AAEC-4247-B20B-C881519A9791}" srcOrd="1" destOrd="0" presId="urn:microsoft.com/office/officeart/2016/7/layout/RepeatingBendingProcessNew"/>
    <dgm:cxn modelId="{AF9B8BAC-E379-47E8-96D5-80947AA72467}" type="presOf" srcId="{0F37BBE4-C96C-416E-96EB-F4A8201663A1}" destId="{88465D46-057C-46E6-90CF-A4DD3DFB8BE1}" srcOrd="1" destOrd="0" presId="urn:microsoft.com/office/officeart/2016/7/layout/RepeatingBendingProcessNew"/>
    <dgm:cxn modelId="{C4F42AB1-A0B3-47DF-A40A-7EE2A75BF756}" type="presOf" srcId="{8B545092-644D-4EF8-B97B-5CCF6320BBAE}" destId="{8EE8F5AA-00A7-4944-861C-5976B6286882}" srcOrd="0" destOrd="0" presId="urn:microsoft.com/office/officeart/2016/7/layout/RepeatingBendingProcessNew"/>
    <dgm:cxn modelId="{CCB558B5-4D97-44FE-8038-F895D1BA50B1}" type="presOf" srcId="{9BF02DFF-EECD-4D2C-86B6-E5B9CB8F78A5}" destId="{EDC11D8C-0FD8-4B5B-97BA-F3E6BF674C4B}" srcOrd="0" destOrd="0" presId="urn:microsoft.com/office/officeart/2016/7/layout/RepeatingBendingProcessNew"/>
    <dgm:cxn modelId="{2FEBFDBC-AA1E-47D0-B856-7960DC02BE00}" type="presOf" srcId="{82B87984-1854-4818-ACE1-9BD11F650304}" destId="{C4ED866F-6489-4DD8-9A43-5284B43E4A93}" srcOrd="0" destOrd="0" presId="urn:microsoft.com/office/officeart/2016/7/layout/RepeatingBendingProcessNew"/>
    <dgm:cxn modelId="{BADA70C7-858A-425C-9B1F-A87676F8C62C}" type="presOf" srcId="{C0B94729-E93F-4F7F-A6E6-3580D7A9EAFB}" destId="{F0F55662-5B00-4A13-9914-AC691FE5D81B}" srcOrd="0" destOrd="0" presId="urn:microsoft.com/office/officeart/2016/7/layout/RepeatingBendingProcessNew"/>
    <dgm:cxn modelId="{A8F013DF-A03C-4C09-8352-2844193EF832}" type="presOf" srcId="{906F9334-9C19-4527-AB83-9767B3471243}" destId="{D4111966-9B77-413D-AD6A-BE0AA24002EB}" srcOrd="0" destOrd="0" presId="urn:microsoft.com/office/officeart/2016/7/layout/RepeatingBendingProcessNew"/>
    <dgm:cxn modelId="{5AF63AE1-1E61-4699-8C1A-A5E4676BA76F}" type="presOf" srcId="{7EB5BF3B-C9F1-49E0-BF3D-8F8E573D584E}" destId="{5F4984E7-A890-4591-85D5-6804D5546D18}" srcOrd="0" destOrd="0" presId="urn:microsoft.com/office/officeart/2016/7/layout/RepeatingBendingProcessNew"/>
    <dgm:cxn modelId="{B00373EB-36AD-49FF-9C89-D3B5A44F6654}" type="presOf" srcId="{4D59F700-DCF8-469F-869A-16997E5939A4}" destId="{FE0B0E3A-ACC0-43F4-891C-95EAE749EF1B}" srcOrd="0" destOrd="0" presId="urn:microsoft.com/office/officeart/2016/7/layout/RepeatingBendingProcessNew"/>
    <dgm:cxn modelId="{F742C5F5-D65E-4C64-AAD4-F5FF90999628}" srcId="{6FDAB226-E8BC-426B-82A5-6FED0DEE856E}" destId="{906F9334-9C19-4527-AB83-9767B3471243}" srcOrd="0" destOrd="0" parTransId="{C6B978C1-FB9C-4CBB-8B0A-0063B6CCE985}" sibTransId="{0F37BBE4-C96C-416E-96EB-F4A8201663A1}"/>
    <dgm:cxn modelId="{D90C7189-3487-4884-BDE6-D6E241019C4D}" type="presParOf" srcId="{785D8305-DFFB-4D58-A716-FCC7A1383DC3}" destId="{D4111966-9B77-413D-AD6A-BE0AA24002EB}" srcOrd="0" destOrd="0" presId="urn:microsoft.com/office/officeart/2016/7/layout/RepeatingBendingProcessNew"/>
    <dgm:cxn modelId="{304CEDF7-13A2-4288-88D4-E1A82D54ADC9}" type="presParOf" srcId="{785D8305-DFFB-4D58-A716-FCC7A1383DC3}" destId="{57C15011-240B-467B-B5CC-C56D01C0F49B}" srcOrd="1" destOrd="0" presId="urn:microsoft.com/office/officeart/2016/7/layout/RepeatingBendingProcessNew"/>
    <dgm:cxn modelId="{0DAEABC7-E31F-424D-BF1D-C3DA513A779F}" type="presParOf" srcId="{57C15011-240B-467B-B5CC-C56D01C0F49B}" destId="{88465D46-057C-46E6-90CF-A4DD3DFB8BE1}" srcOrd="0" destOrd="0" presId="urn:microsoft.com/office/officeart/2016/7/layout/RepeatingBendingProcessNew"/>
    <dgm:cxn modelId="{DADA01B5-BC87-460B-812F-2BE4D1C9FD12}" type="presParOf" srcId="{785D8305-DFFB-4D58-A716-FCC7A1383DC3}" destId="{C4ED866F-6489-4DD8-9A43-5284B43E4A93}" srcOrd="2" destOrd="0" presId="urn:microsoft.com/office/officeart/2016/7/layout/RepeatingBendingProcessNew"/>
    <dgm:cxn modelId="{D4B80F90-C60F-4C34-9CCA-CB4E874CD150}" type="presParOf" srcId="{785D8305-DFFB-4D58-A716-FCC7A1383DC3}" destId="{A0D62EA8-6E04-4987-924C-24BF9E553C97}" srcOrd="3" destOrd="0" presId="urn:microsoft.com/office/officeart/2016/7/layout/RepeatingBendingProcessNew"/>
    <dgm:cxn modelId="{2FE385E1-E1B3-4ADC-932E-895E6AB72555}" type="presParOf" srcId="{A0D62EA8-6E04-4987-924C-24BF9E553C97}" destId="{F7CEE597-F3C3-4A53-9881-63802EAB9B4C}" srcOrd="0" destOrd="0" presId="urn:microsoft.com/office/officeart/2016/7/layout/RepeatingBendingProcessNew"/>
    <dgm:cxn modelId="{405FF24B-7425-4122-8098-947FFFF7229E}" type="presParOf" srcId="{785D8305-DFFB-4D58-A716-FCC7A1383DC3}" destId="{8EE8F5AA-00A7-4944-861C-5976B6286882}" srcOrd="4" destOrd="0" presId="urn:microsoft.com/office/officeart/2016/7/layout/RepeatingBendingProcessNew"/>
    <dgm:cxn modelId="{7C15473B-AEF8-4629-855B-DEA7C006E11B}" type="presParOf" srcId="{785D8305-DFFB-4D58-A716-FCC7A1383DC3}" destId="{F0F55662-5B00-4A13-9914-AC691FE5D81B}" srcOrd="5" destOrd="0" presId="urn:microsoft.com/office/officeart/2016/7/layout/RepeatingBendingProcessNew"/>
    <dgm:cxn modelId="{CDAD3196-F369-4ED2-BDA1-02273DF3AFB3}" type="presParOf" srcId="{F0F55662-5B00-4A13-9914-AC691FE5D81B}" destId="{2535F706-E8DD-4D61-B955-1276653A920F}" srcOrd="0" destOrd="0" presId="urn:microsoft.com/office/officeart/2016/7/layout/RepeatingBendingProcessNew"/>
    <dgm:cxn modelId="{DF8BC852-12E0-41EE-A501-E3DD28FBD52F}" type="presParOf" srcId="{785D8305-DFFB-4D58-A716-FCC7A1383DC3}" destId="{FE0B0E3A-ACC0-43F4-891C-95EAE749EF1B}" srcOrd="6" destOrd="0" presId="urn:microsoft.com/office/officeart/2016/7/layout/RepeatingBendingProcessNew"/>
    <dgm:cxn modelId="{881BE51D-B474-400A-9CBD-4DF8A8AC4CBB}" type="presParOf" srcId="{785D8305-DFFB-4D58-A716-FCC7A1383DC3}" destId="{5F4984E7-A890-4591-85D5-6804D5546D18}" srcOrd="7" destOrd="0" presId="urn:microsoft.com/office/officeart/2016/7/layout/RepeatingBendingProcessNew"/>
    <dgm:cxn modelId="{03677FA8-722B-43C0-B0FA-94333E84A15B}" type="presParOf" srcId="{5F4984E7-A890-4591-85D5-6804D5546D18}" destId="{0DFFEB4B-AAEC-4247-B20B-C881519A9791}" srcOrd="0" destOrd="0" presId="urn:microsoft.com/office/officeart/2016/7/layout/RepeatingBendingProcessNew"/>
    <dgm:cxn modelId="{FA9BA52A-8651-41C9-A97F-2F0ADF74B764}" type="presParOf" srcId="{785D8305-DFFB-4D58-A716-FCC7A1383DC3}" destId="{9901F1A5-A1F3-4620-822E-0FD9EBD69F1D}" srcOrd="8" destOrd="0" presId="urn:microsoft.com/office/officeart/2016/7/layout/RepeatingBendingProcessNew"/>
    <dgm:cxn modelId="{34641B64-63A1-4D6C-85F5-00BC95D8EAD4}" type="presParOf" srcId="{785D8305-DFFB-4D58-A716-FCC7A1383DC3}" destId="{D58E3530-0ED6-46A0-9749-858D63E88569}" srcOrd="9" destOrd="0" presId="urn:microsoft.com/office/officeart/2016/7/layout/RepeatingBendingProcessNew"/>
    <dgm:cxn modelId="{2E37FE42-2849-4986-B657-1C3ABA781ECA}" type="presParOf" srcId="{D58E3530-0ED6-46A0-9749-858D63E88569}" destId="{FF8078A0-B393-4DD8-8A62-23A599903926}" srcOrd="0" destOrd="0" presId="urn:microsoft.com/office/officeart/2016/7/layout/RepeatingBendingProcessNew"/>
    <dgm:cxn modelId="{F909A081-110F-4D00-9C63-FE128EDC94AB}" type="presParOf" srcId="{785D8305-DFFB-4D58-A716-FCC7A1383DC3}" destId="{EDC11D8C-0FD8-4B5B-97BA-F3E6BF674C4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15011-240B-467B-B5CC-C56D01C0F49B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751961"/>
        <a:ext cx="28878" cy="5775"/>
      </dsp:txXfrm>
    </dsp:sp>
    <dsp:sp modelId="{D4111966-9B77-413D-AD6A-BE0AA24002EB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Híbrida (Scrum + Cascada) Combina la planificación estructurada con la iteración ágil. Etapas:</a:t>
          </a:r>
        </a:p>
      </dsp:txBody>
      <dsp:txXfrm>
        <a:off x="105624" y="1502"/>
        <a:ext cx="2511156" cy="1506693"/>
      </dsp:txXfrm>
    </dsp:sp>
    <dsp:sp modelId="{A0D62EA8-6E04-4987-924C-24BF9E553C97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1776991"/>
        <a:ext cx="157112" cy="5775"/>
      </dsp:txXfrm>
    </dsp:sp>
    <dsp:sp modelId="{C4ED866F-6489-4DD8-9A43-5284B43E4A93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Análisis</a:t>
          </a:r>
        </a:p>
      </dsp:txBody>
      <dsp:txXfrm>
        <a:off x="3194346" y="1502"/>
        <a:ext cx="2511156" cy="1506693"/>
      </dsp:txXfrm>
    </dsp:sp>
    <dsp:sp modelId="{F0F55662-5B00-4A13-9914-AC691FE5D81B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2836221"/>
        <a:ext cx="28878" cy="5775"/>
      </dsp:txXfrm>
    </dsp:sp>
    <dsp:sp modelId="{8EE8F5AA-00A7-4944-861C-5976B6286882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Diseño</a:t>
          </a:r>
        </a:p>
      </dsp:txBody>
      <dsp:txXfrm>
        <a:off x="105624" y="2085762"/>
        <a:ext cx="2511156" cy="1506693"/>
      </dsp:txXfrm>
    </dsp:sp>
    <dsp:sp modelId="{5F4984E7-A890-4591-85D5-6804D5546D18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3861251"/>
        <a:ext cx="157112" cy="5775"/>
      </dsp:txXfrm>
    </dsp:sp>
    <dsp:sp modelId="{FE0B0E3A-ACC0-43F4-891C-95EAE749EF1B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Desarrollo</a:t>
          </a:r>
        </a:p>
      </dsp:txBody>
      <dsp:txXfrm>
        <a:off x="3194346" y="2085762"/>
        <a:ext cx="2511156" cy="1506693"/>
      </dsp:txXfrm>
    </dsp:sp>
    <dsp:sp modelId="{D58E3530-0ED6-46A0-9749-858D63E88569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4920481"/>
        <a:ext cx="28878" cy="5775"/>
      </dsp:txXfrm>
    </dsp:sp>
    <dsp:sp modelId="{9901F1A5-A1F3-4620-822E-0FD9EBD69F1D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Integración</a:t>
          </a:r>
        </a:p>
      </dsp:txBody>
      <dsp:txXfrm>
        <a:off x="105624" y="4170022"/>
        <a:ext cx="2511156" cy="1506693"/>
      </dsp:txXfrm>
    </dsp:sp>
    <dsp:sp modelId="{EDC11D8C-0FD8-4B5B-97BA-F3E6BF674C4B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Pruebas</a:t>
          </a:r>
        </a:p>
      </dsp:txBody>
      <dsp:txXfrm>
        <a:off x="3194346" y="4170022"/>
        <a:ext cx="2511156" cy="1506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</a:t>
            </a:r>
            <a:br>
              <a:rPr lang="es-ES" dirty="0"/>
            </a:br>
            <a:r>
              <a:rPr lang="es-ES" dirty="0"/>
              <a:t>PRESENTACIÓN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Fecha</a:t>
            </a:r>
            <a:endParaRPr lang="es-CL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 dirty="0"/>
              <a:t>Área que presenta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1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Avance 2 – Sistema de Gestión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>
                <a:latin typeface="Arial"/>
                <a:cs typeface="Arial"/>
              </a:rPr>
              <a:t>Fecha: 12-11-2025</a:t>
            </a:r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CL" sz="1200" b="1" noProof="1">
                <a:latin typeface="Arial"/>
                <a:cs typeface="Arial"/>
              </a:rPr>
              <a:t>Autor:</a:t>
            </a:r>
            <a:r>
              <a:rPr lang="es-CL" sz="1200" noProof="1">
                <a:latin typeface="Arial"/>
                <a:cs typeface="Arial"/>
              </a:rPr>
              <a:t> Charlie Bailey Moya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Carrera:</a:t>
            </a:r>
            <a:r>
              <a:rPr lang="es-CL" sz="12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Profesor Guía:</a:t>
            </a:r>
            <a:r>
              <a:rPr lang="es-CL" sz="1200" noProof="1">
                <a:latin typeface="Arial"/>
                <a:cs typeface="Arial"/>
              </a:rPr>
              <a:t> Víctor Valderrama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Año:</a:t>
            </a:r>
            <a:r>
              <a:rPr lang="es-CL" sz="1200" noProof="1">
                <a:latin typeface="Arial"/>
                <a:cs typeface="Arial"/>
              </a:rPr>
              <a:t> 2025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6264E-6A77-BAD8-79F6-B684A1F6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🎯 Objetivo General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027B-9FEF-01B5-538B-02CEB4FA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Diseñar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implementar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permita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monitorear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gestionar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dispositivos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conectados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una</a:t>
            </a:r>
            <a:r>
              <a:rPr lang="en-US" dirty="0">
                <a:ea typeface="+mn-lt"/>
                <a:cs typeface="+mn-lt"/>
              </a:rPr>
              <a:t> red local, </a:t>
            </a:r>
            <a:r>
              <a:rPr lang="en-US" dirty="0" err="1">
                <a:ea typeface="+mn-lt"/>
                <a:cs typeface="+mn-lt"/>
              </a:rPr>
              <a:t>detectando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conflictos</a:t>
            </a:r>
            <a:r>
              <a:rPr lang="en-US" dirty="0">
                <a:ea typeface="+mn-lt"/>
                <a:cs typeface="+mn-lt"/>
              </a:rPr>
              <a:t> de IP/MAC y </a:t>
            </a:r>
            <a:r>
              <a:rPr lang="en-US" dirty="0" err="1">
                <a:ea typeface="+mn-lt"/>
                <a:cs typeface="+mn-lt"/>
              </a:rPr>
              <a:t>consultas</a:t>
            </a:r>
            <a:r>
              <a:rPr lang="en-US" dirty="0">
                <a:ea typeface="+mn-lt"/>
                <a:cs typeface="+mn-lt"/>
              </a:rPr>
              <a:t> DNS, </a:t>
            </a:r>
            <a:r>
              <a:rPr lang="en-US" dirty="0" err="1">
                <a:ea typeface="+mn-lt"/>
                <a:cs typeface="+mn-lt"/>
              </a:rPr>
              <a:t>integrando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herramientas</a:t>
            </a:r>
            <a:r>
              <a:rPr lang="en-US" dirty="0">
                <a:ea typeface="+mn-lt"/>
                <a:cs typeface="+mn-lt"/>
              </a:rPr>
              <a:t> Nmap y Pi-hole con </a:t>
            </a:r>
            <a:r>
              <a:rPr lang="en-US" dirty="0" err="1">
                <a:ea typeface="+mn-lt"/>
                <a:cs typeface="+mn-lt"/>
              </a:rPr>
              <a:t>una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interfaz</a:t>
            </a:r>
            <a:r>
              <a:rPr lang="en-US" dirty="0">
                <a:ea typeface="+mn-lt"/>
                <a:cs typeface="+mn-lt"/>
              </a:rPr>
              <a:t> web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PHP/MySQL.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75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08959-5C2A-E3DB-7ADE-580C7048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600">
                <a:solidFill>
                  <a:srgbClr val="FFFFFF"/>
                </a:solidFill>
                <a:ea typeface="+mj-lt"/>
                <a:cs typeface="+mj-lt"/>
              </a:rPr>
              <a:t>🧱 Metodología</a:t>
            </a:r>
            <a:endParaRPr lang="en-US" sz="4600">
              <a:solidFill>
                <a:srgbClr val="FFFFFF"/>
              </a:solidFill>
            </a:endParaRPr>
          </a:p>
          <a:p>
            <a:endParaRPr lang="en-US" sz="46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F39473-2EFF-989E-18D6-6ECEA8D3E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62496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637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AF4CE-42A7-AB38-B107-42014EB6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🛠️ Tecnologías Clave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3021-8B10-C204-9571-9531B47BB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BCB140-90EE-4512-2040-261A38E91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405035"/>
              </p:ext>
            </p:extLst>
          </p:nvPr>
        </p:nvGraphicFramePr>
        <p:xfrm>
          <a:off x="4832864" y="1098378"/>
          <a:ext cx="5814494" cy="50389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7247">
                  <a:extLst>
                    <a:ext uri="{9D8B030D-6E8A-4147-A177-3AD203B41FA5}">
                      <a16:colId xmlns:a16="http://schemas.microsoft.com/office/drawing/2014/main" val="1148827444"/>
                    </a:ext>
                  </a:extLst>
                </a:gridCol>
                <a:gridCol w="2907247">
                  <a:extLst>
                    <a:ext uri="{9D8B030D-6E8A-4147-A177-3AD203B41FA5}">
                      <a16:colId xmlns:a16="http://schemas.microsoft.com/office/drawing/2014/main" val="3123279046"/>
                    </a:ext>
                  </a:extLst>
                </a:gridCol>
              </a:tblGrid>
              <a:tr h="83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Categoría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Herramientas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56267"/>
                  </a:ext>
                </a:extLst>
              </a:tr>
              <a:tr h="83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PHP 8, MySQL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029883"/>
                  </a:ext>
                </a:extLst>
              </a:tr>
              <a:tr h="83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HTML5, CSS3, 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05322"/>
                  </a:ext>
                </a:extLst>
              </a:tr>
              <a:tr h="83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Servidor</a:t>
                      </a:r>
                      <a:r>
                        <a:rPr lang="en-US" dirty="0"/>
                        <a:t> 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XAMPP, phpMyAdmin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889298"/>
                  </a:ext>
                </a:extLst>
              </a:tr>
              <a:tr h="83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Monitoreo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Nmap / Pi-hole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37"/>
                  </a:ext>
                </a:extLst>
              </a:tr>
              <a:tr h="839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Control de </a:t>
                      </a:r>
                      <a:r>
                        <a:rPr lang="en-US" dirty="0" err="1"/>
                        <a:t>versiones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69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78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27A24-DDEC-C8CE-DEB2-0D5EE5D2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663" y="1270565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⚙️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Requerimientos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Funcionales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956F88-B5E5-222C-3523-3D686AEA94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2428" y="740185"/>
          <a:ext cx="7225751" cy="537763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85922">
                  <a:extLst>
                    <a:ext uri="{9D8B030D-6E8A-4147-A177-3AD203B41FA5}">
                      <a16:colId xmlns:a16="http://schemas.microsoft.com/office/drawing/2014/main" val="1097787248"/>
                    </a:ext>
                  </a:extLst>
                </a:gridCol>
                <a:gridCol w="1868687">
                  <a:extLst>
                    <a:ext uri="{9D8B030D-6E8A-4147-A177-3AD203B41FA5}">
                      <a16:colId xmlns:a16="http://schemas.microsoft.com/office/drawing/2014/main" val="2438091486"/>
                    </a:ext>
                  </a:extLst>
                </a:gridCol>
                <a:gridCol w="1321188">
                  <a:extLst>
                    <a:ext uri="{9D8B030D-6E8A-4147-A177-3AD203B41FA5}">
                      <a16:colId xmlns:a16="http://schemas.microsoft.com/office/drawing/2014/main" val="4251992575"/>
                    </a:ext>
                  </a:extLst>
                </a:gridCol>
                <a:gridCol w="1286830">
                  <a:extLst>
                    <a:ext uri="{9D8B030D-6E8A-4147-A177-3AD203B41FA5}">
                      <a16:colId xmlns:a16="http://schemas.microsoft.com/office/drawing/2014/main" val="817723466"/>
                    </a:ext>
                  </a:extLst>
                </a:gridCol>
                <a:gridCol w="1663124">
                  <a:extLst>
                    <a:ext uri="{9D8B030D-6E8A-4147-A177-3AD203B41FA5}">
                      <a16:colId xmlns:a16="http://schemas.microsoft.com/office/drawing/2014/main" val="3698783108"/>
                    </a:ext>
                  </a:extLst>
                </a:gridCol>
              </a:tblGrid>
              <a:tr h="458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Descripción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Tipo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Prioridad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Responsable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540"/>
                  </a:ext>
                </a:extLst>
              </a:tr>
              <a:tr h="93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RF01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Configurar rango de red, rutas y parámetros del sistema.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Configuración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Administrador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216774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RF02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Autenticación y control de acceso con roles.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Seguridad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630811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RF03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Escaneo automático con Nmap.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Monitoreo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035865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RF06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Integración con Pi-hole para registrar consultas DNS.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Integración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684424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RF09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Dashboard con métricas de red y logs.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Visualización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Administrador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129484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RF10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Detección de IP duplicadas y alertas automáticas.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Alerta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878579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RF11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Registro de auditoría de acciones del sistema.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Seguridad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82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600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45287-C170-20D1-757C-A0674EF0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221B3-2F6C-9986-E7CC-665D53AF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200" dirty="0">
                <a:solidFill>
                  <a:srgbClr val="FFFFFF"/>
                </a:solidFill>
              </a:rPr>
              <a:t> 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⚙️ </a:t>
            </a:r>
            <a:r>
              <a:rPr lang="en-US" sz="2200" dirty="0" err="1">
                <a:solidFill>
                  <a:srgbClr val="FFFFFF"/>
                </a:solidFill>
                <a:ea typeface="+mj-lt"/>
                <a:cs typeface="+mj-lt"/>
              </a:rPr>
              <a:t>Requerimientos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 No </a:t>
            </a:r>
            <a:r>
              <a:rPr lang="en-US" sz="2200" dirty="0" err="1">
                <a:solidFill>
                  <a:srgbClr val="FFFFFF"/>
                </a:solidFill>
                <a:ea typeface="+mj-lt"/>
                <a:cs typeface="+mj-lt"/>
              </a:rPr>
              <a:t>Funcionales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 (</a:t>
            </a:r>
            <a:r>
              <a:rPr lang="en-US" sz="2200" dirty="0" err="1">
                <a:solidFill>
                  <a:srgbClr val="FFFFFF"/>
                </a:solidFill>
                <a:ea typeface="+mj-lt"/>
                <a:cs typeface="+mj-lt"/>
              </a:rPr>
              <a:t>Principales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)</a:t>
            </a:r>
            <a:endParaRPr lang="en-US" sz="2200" dirty="0">
              <a:solidFill>
                <a:srgbClr val="FFFFFF"/>
              </a:solidFill>
            </a:endParaRPr>
          </a:p>
          <a:p>
            <a:pPr algn="r"/>
            <a:endParaRPr lang="en-US" sz="2200" kern="1200">
              <a:solidFill>
                <a:srgbClr val="FFFFFF"/>
              </a:solidFill>
              <a:latin typeface="+mj-lt"/>
            </a:endParaRPr>
          </a:p>
          <a:p>
            <a:pPr algn="r"/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17DB8E1-4DC4-0F32-F43E-D96BF3863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906668"/>
              </p:ext>
            </p:extLst>
          </p:nvPr>
        </p:nvGraphicFramePr>
        <p:xfrm>
          <a:off x="4905052" y="1169129"/>
          <a:ext cx="6666835" cy="46165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1142">
                  <a:extLst>
                    <a:ext uri="{9D8B030D-6E8A-4147-A177-3AD203B41FA5}">
                      <a16:colId xmlns:a16="http://schemas.microsoft.com/office/drawing/2014/main" val="2556578347"/>
                    </a:ext>
                  </a:extLst>
                </a:gridCol>
                <a:gridCol w="2996907">
                  <a:extLst>
                    <a:ext uri="{9D8B030D-6E8A-4147-A177-3AD203B41FA5}">
                      <a16:colId xmlns:a16="http://schemas.microsoft.com/office/drawing/2014/main" val="98714292"/>
                    </a:ext>
                  </a:extLst>
                </a:gridCol>
                <a:gridCol w="1636897">
                  <a:extLst>
                    <a:ext uri="{9D8B030D-6E8A-4147-A177-3AD203B41FA5}">
                      <a16:colId xmlns:a16="http://schemas.microsoft.com/office/drawing/2014/main" val="1306997422"/>
                    </a:ext>
                  </a:extLst>
                </a:gridCol>
                <a:gridCol w="1101889">
                  <a:extLst>
                    <a:ext uri="{9D8B030D-6E8A-4147-A177-3AD203B41FA5}">
                      <a16:colId xmlns:a16="http://schemas.microsoft.com/office/drawing/2014/main" val="445301316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Código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Descripción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Criterio de Calidad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Prioridad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209831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RNF01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Desarrollado con PHP 8, MySQL 8, HTML5 y CSS3.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Compatibilidad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0428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RNF02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Interfaz responsiva y accesible.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599868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RNF03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Autenticación segura con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password_hash()</a:t>
                      </a:r>
                      <a:r>
                        <a:rPr lang="en-US" sz="1600"/>
                        <a:t>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Seguridad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97996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RNF05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Ejecución de Nmap sin privilegios root.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Portabilidad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186128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RNF07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Tolerancia a fallos ante errores de conexión.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894935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RNF09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Arquitectura modular basada en MVC.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Escalabilidad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050393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RNF11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Escalabilidad para distintas topologías de red.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Flexibilidad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Media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9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69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BE977-6574-1B52-CAD9-9910F5CC0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💾 Diseño de Sistema (MER resumido)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C3BFE-7A38-8A84-72F4-4F64B947F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usuario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rol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dispositivo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usuario</a:t>
            </a:r>
            <a:r>
              <a:rPr lang="en-US" dirty="0">
                <a:ea typeface="+mn-lt"/>
                <a:cs typeface="+mn-lt"/>
              </a:rPr>
              <a:t> + red + </a:t>
            </a:r>
            <a:r>
              <a:rPr lang="en-US" dirty="0" err="1">
                <a:ea typeface="+mn-lt"/>
                <a:cs typeface="+mn-lt"/>
              </a:rPr>
              <a:t>vendor_oui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access_logs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alerta</a:t>
            </a:r>
            <a:r>
              <a:rPr lang="en-US" dirty="0">
                <a:ea typeface="+mn-lt"/>
                <a:cs typeface="+mn-lt"/>
              </a:rPr>
              <a:t>, auditoria → </a:t>
            </a:r>
            <a:r>
              <a:rPr lang="en-US" dirty="0" err="1">
                <a:ea typeface="+mn-lt"/>
                <a:cs typeface="+mn-lt"/>
              </a:rPr>
              <a:t>dependen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dispositivo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usuario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config → red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📊 Base de </a:t>
            </a:r>
            <a:r>
              <a:rPr lang="en-US" dirty="0" err="1">
                <a:ea typeface="+mn-lt"/>
                <a:cs typeface="+mn-lt"/>
              </a:rPr>
              <a:t>datos</a:t>
            </a:r>
            <a:r>
              <a:rPr lang="en-US" dirty="0">
                <a:ea typeface="+mn-lt"/>
                <a:cs typeface="+mn-lt"/>
              </a:rPr>
              <a:t>: gestion_ip_mac_v2 9 </a:t>
            </a:r>
            <a:r>
              <a:rPr lang="en-US" dirty="0" err="1">
                <a:ea typeface="+mn-lt"/>
                <a:cs typeface="+mn-lt"/>
              </a:rPr>
              <a:t>tablas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principales</a:t>
            </a:r>
            <a:r>
              <a:rPr lang="en-US" dirty="0">
                <a:ea typeface="+mn-lt"/>
                <a:cs typeface="+mn-lt"/>
              </a:rPr>
              <a:t> + vistas y stored procedure.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41D3A-C3E0-C902-3DF4-006AD04E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C8C78A-5EE6-A8BD-4BB7-E378F91E6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607" t="3560" r="12812" b="1729"/>
          <a:stretch>
            <a:fillRect/>
          </a:stretch>
        </p:blipFill>
        <p:spPr>
          <a:xfrm>
            <a:off x="837514" y="364632"/>
            <a:ext cx="10516975" cy="639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8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8AFB1-1310-5F3B-C246-3B31A5F4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🧠 Wireframes (Demo)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CC72-9DA6-82A0-54EF-0562E8F40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Login: </a:t>
            </a:r>
            <a:r>
              <a:rPr lang="en-US" dirty="0" err="1">
                <a:ea typeface="+mn-lt"/>
                <a:cs typeface="+mn-lt"/>
              </a:rPr>
              <a:t>formulario</a:t>
            </a:r>
            <a:r>
              <a:rPr lang="en-US" dirty="0">
                <a:ea typeface="+mn-lt"/>
                <a:cs typeface="+mn-lt"/>
              </a:rPr>
              <a:t> simple con logo y campos de </a:t>
            </a:r>
            <a:r>
              <a:rPr lang="en-US" dirty="0" err="1">
                <a:ea typeface="+mn-lt"/>
                <a:cs typeface="+mn-lt"/>
              </a:rPr>
              <a:t>usuario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contraseña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Dashboard: </a:t>
            </a:r>
            <a:r>
              <a:rPr lang="en-US" dirty="0" err="1">
                <a:ea typeface="+mn-lt"/>
                <a:cs typeface="+mn-lt"/>
              </a:rPr>
              <a:t>tarjetas</a:t>
            </a:r>
            <a:r>
              <a:rPr lang="en-US" dirty="0">
                <a:ea typeface="+mn-lt"/>
                <a:cs typeface="+mn-lt"/>
              </a:rPr>
              <a:t> con </a:t>
            </a:r>
            <a:r>
              <a:rPr lang="en-US" dirty="0" err="1">
                <a:ea typeface="+mn-lt"/>
                <a:cs typeface="+mn-lt"/>
              </a:rPr>
              <a:t>métricas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dispositivos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activos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alertas</a:t>
            </a:r>
            <a:r>
              <a:rPr lang="en-US" dirty="0">
                <a:ea typeface="+mn-lt"/>
                <a:cs typeface="+mn-lt"/>
              </a:rPr>
              <a:t> y logs </a:t>
            </a:r>
            <a:r>
              <a:rPr lang="en-US" dirty="0" err="1">
                <a:ea typeface="+mn-lt"/>
                <a:cs typeface="+mn-lt"/>
              </a:rPr>
              <a:t>recientes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además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tablas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inventario</a:t>
            </a:r>
            <a:r>
              <a:rPr lang="en-US" dirty="0">
                <a:ea typeface="+mn-lt"/>
                <a:cs typeface="+mn-lt"/>
              </a:rPr>
              <a:t> DNS y </a:t>
            </a:r>
            <a:r>
              <a:rPr lang="en-US" dirty="0" err="1">
                <a:ea typeface="+mn-lt"/>
                <a:cs typeface="+mn-lt"/>
              </a:rPr>
              <a:t>resumen</a:t>
            </a:r>
            <a:r>
              <a:rPr lang="en-US" dirty="0">
                <a:ea typeface="+mn-lt"/>
                <a:cs typeface="+mn-lt"/>
              </a:rPr>
              <a:t> de red.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43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CFA2-93CE-28BB-03C6-C8DD5A2B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8DD2C7-52B8-22CF-34D7-81D824519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831" r="-65" b="-106"/>
          <a:stretch>
            <a:fillRect/>
          </a:stretch>
        </p:blipFill>
        <p:spPr>
          <a:xfrm>
            <a:off x="837514" y="364633"/>
            <a:ext cx="10516986" cy="649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9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DC73-4B5A-1AB0-9820-FDE24901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097F39-EC48-BD76-A622-23D8EC832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514" y="364632"/>
            <a:ext cx="10516972" cy="654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5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49CF5-6A5F-66B2-0143-F0E4154A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🌐 Control de Versiones (GitHub)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BE2B-3B7C-4B8F-7DBC-EE46011BF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📦 </a:t>
            </a:r>
            <a:r>
              <a:rPr lang="en-US" dirty="0" err="1">
                <a:ea typeface="+mn-lt"/>
                <a:cs typeface="+mn-lt"/>
              </a:rPr>
              <a:t>Repositorio</a:t>
            </a:r>
            <a:r>
              <a:rPr lang="en-US" dirty="0">
                <a:ea typeface="+mn-lt"/>
                <a:cs typeface="+mn-lt"/>
              </a:rPr>
              <a:t>: github.com/</a:t>
            </a:r>
            <a:r>
              <a:rPr lang="en-US" dirty="0" err="1">
                <a:ea typeface="+mn-lt"/>
                <a:cs typeface="+mn-lt"/>
              </a:rPr>
              <a:t>charli</a:t>
            </a:r>
            <a:r>
              <a:rPr lang="en-US" dirty="0">
                <a:ea typeface="+mn-lt"/>
                <a:cs typeface="+mn-lt"/>
              </a:rPr>
              <a:t>-hash/gestion-</a:t>
            </a:r>
            <a:r>
              <a:rPr lang="en-US" dirty="0" err="1">
                <a:ea typeface="+mn-lt"/>
                <a:cs typeface="+mn-lt"/>
              </a:rPr>
              <a:t>ip</a:t>
            </a:r>
            <a:r>
              <a:rPr lang="en-US" dirty="0">
                <a:ea typeface="+mn-lt"/>
                <a:cs typeface="+mn-lt"/>
              </a:rPr>
              <a:t>-mac-redes </a:t>
            </a:r>
          </a:p>
          <a:p>
            <a:r>
              <a:rPr lang="en-US" dirty="0">
                <a:ea typeface="+mn-lt"/>
                <a:cs typeface="+mn-lt"/>
              </a:rPr>
              <a:t>🔹 Ramas: main (versión estable) y avance2 (en desarrollo) </a:t>
            </a:r>
          </a:p>
          <a:p>
            <a:r>
              <a:rPr lang="en-US" dirty="0">
                <a:ea typeface="+mn-lt"/>
                <a:cs typeface="+mn-lt"/>
              </a:rPr>
              <a:t>🧩 </a:t>
            </a:r>
            <a:r>
              <a:rPr lang="en-US" dirty="0" err="1">
                <a:ea typeface="+mn-lt"/>
                <a:cs typeface="+mn-lt"/>
              </a:rPr>
              <a:t>Gestión</a:t>
            </a:r>
            <a:r>
              <a:rPr lang="en-US" dirty="0">
                <a:ea typeface="+mn-lt"/>
                <a:cs typeface="+mn-lt"/>
              </a:rPr>
              <a:t> de Issues: un Issue por requerimiento funcional (RF).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📋 </a:t>
            </a:r>
            <a:r>
              <a:rPr lang="en-US" dirty="0" err="1">
                <a:ea typeface="+mn-lt"/>
                <a:cs typeface="+mn-lt"/>
              </a:rPr>
              <a:t>Tablero</a:t>
            </a:r>
            <a:r>
              <a:rPr lang="en-US" dirty="0">
                <a:ea typeface="+mn-lt"/>
                <a:cs typeface="+mn-lt"/>
              </a:rPr>
              <a:t> Kanban: columnas To Do, In Progress y Done para </a:t>
            </a:r>
            <a:r>
              <a:rPr lang="en-US" dirty="0" err="1">
                <a:ea typeface="+mn-lt"/>
                <a:cs typeface="+mn-lt"/>
              </a:rPr>
              <a:t>seguimiento</a:t>
            </a:r>
            <a:r>
              <a:rPr lang="en-US" dirty="0">
                <a:ea typeface="+mn-lt"/>
                <a:cs typeface="+mn-lt"/>
              </a:rPr>
              <a:t> visual del progreso.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848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Tema de Office</vt:lpstr>
      <vt:lpstr>Avance 2 – Sistema de Gestión de IP y MAC con Nmap y Pi-hole </vt:lpstr>
      <vt:lpstr>🎯 Objetivo General </vt:lpstr>
      <vt:lpstr>🧱 Metodología </vt:lpstr>
      <vt:lpstr>🛠️ Tecnologías Clave </vt:lpstr>
      <vt:lpstr>⚙️ Requerimientos Funcionales (Principales) </vt:lpstr>
      <vt:lpstr> ⚙️ Requerimientos No Funcionales (Principales)  </vt:lpstr>
      <vt:lpstr>💾 Diseño de Sistema (MER resumido) </vt:lpstr>
      <vt:lpstr>PowerPoint Presentation</vt:lpstr>
      <vt:lpstr>🧠 Wireframes (Demo) </vt:lpstr>
      <vt:lpstr>PowerPoint Presentation</vt:lpstr>
      <vt:lpstr>PowerPoint Presentation</vt:lpstr>
      <vt:lpstr>🌐 Control de Versiones (GitHub)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115</cp:revision>
  <dcterms:created xsi:type="dcterms:W3CDTF">2012-07-30T22:48:03Z</dcterms:created>
  <dcterms:modified xsi:type="dcterms:W3CDTF">2025-11-12T12:38:29Z</dcterms:modified>
</cp:coreProperties>
</file>