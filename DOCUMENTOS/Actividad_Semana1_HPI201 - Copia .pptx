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91" r:id="rId4"/>
  </p:sldMasterIdLst>
  <p:sldIdLst>
    <p:sldId id="256" r:id="rId5"/>
    <p:sldId id="263" r:id="rId6"/>
    <p:sldId id="264" r:id="rId7"/>
    <p:sldId id="265" r:id="rId8"/>
    <p:sldId id="266" r:id="rId9"/>
    <p:sldId id="267" r:id="rId10"/>
    <p:sldId id="268" r:id="rId11"/>
    <p:sldId id="260" r:id="rId12"/>
  </p:sldIdLst>
  <p:sldSz cx="12192000" cy="6858000"/>
  <p:notesSz cx="6858000" cy="9144000"/>
  <p:defaultTextStyle>
    <a:defPPr>
      <a:defRPr lang="es-CL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1CAFB6"/>
    <a:srgbClr val="048E8B"/>
    <a:srgbClr val="0F1A2F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E06E1604-F187-C5A1-5EBC-F8C021AD1E56}" v="86" dt="2025-11-04T13:24:25.243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46" d="100"/>
          <a:sy n="46" d="100"/>
        </p:scale>
        <p:origin x="572" y="4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sorterViewPr>
    <p:cViewPr>
      <p:scale>
        <a:sx n="100" d="100"/>
        <a:sy n="100" d="100"/>
      </p:scale>
      <p:origin x="0" y="0"/>
    </p:cViewPr>
  </p:sorter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4.xml"/><Relationship Id="rId13" Type="http://schemas.openxmlformats.org/officeDocument/2006/relationships/presProps" Target="presProps.xml"/><Relationship Id="rId3" Type="http://schemas.openxmlformats.org/officeDocument/2006/relationships/customXml" Target="../customXml/item3.xml"/><Relationship Id="rId7" Type="http://schemas.openxmlformats.org/officeDocument/2006/relationships/slide" Target="slides/slide3.xml"/><Relationship Id="rId12" Type="http://schemas.openxmlformats.org/officeDocument/2006/relationships/slide" Target="slides/slide8.xml"/><Relationship Id="rId17" Type="http://schemas.microsoft.com/office/2015/10/relationships/revisionInfo" Target="revisionInfo.xml"/><Relationship Id="rId2" Type="http://schemas.openxmlformats.org/officeDocument/2006/relationships/customXml" Target="../customXml/item2.xml"/><Relationship Id="rId16" Type="http://schemas.openxmlformats.org/officeDocument/2006/relationships/tableStyles" Target="tableStyles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slide" Target="slides/slide7.xml"/><Relationship Id="rId5" Type="http://schemas.openxmlformats.org/officeDocument/2006/relationships/slide" Target="slides/slide1.xml"/><Relationship Id="rId15" Type="http://schemas.openxmlformats.org/officeDocument/2006/relationships/theme" Target="theme/theme1.xml"/><Relationship Id="rId10" Type="http://schemas.openxmlformats.org/officeDocument/2006/relationships/slide" Target="slides/slide6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8" Type="http://schemas.openxmlformats.org/officeDocument/2006/relationships/image" Target="../media/image7.svg"/><Relationship Id="rId3" Type="http://schemas.openxmlformats.org/officeDocument/2006/relationships/image" Target="../media/image2.png"/><Relationship Id="rId7" Type="http://schemas.openxmlformats.org/officeDocument/2006/relationships/image" Target="../media/image6.png"/><Relationship Id="rId2" Type="http://schemas.openxmlformats.org/officeDocument/2006/relationships/image" Target="../media/image1.jpg"/><Relationship Id="rId1" Type="http://schemas.openxmlformats.org/officeDocument/2006/relationships/slideMaster" Target="../slideMasters/slideMaster1.xml"/><Relationship Id="rId6" Type="http://schemas.openxmlformats.org/officeDocument/2006/relationships/image" Target="../media/image5.svg"/><Relationship Id="rId11" Type="http://schemas.openxmlformats.org/officeDocument/2006/relationships/image" Target="../media/image10.png"/><Relationship Id="rId5" Type="http://schemas.openxmlformats.org/officeDocument/2006/relationships/image" Target="../media/image4.png"/><Relationship Id="rId10" Type="http://schemas.openxmlformats.org/officeDocument/2006/relationships/image" Target="../media/image9.svg"/><Relationship Id="rId4" Type="http://schemas.openxmlformats.org/officeDocument/2006/relationships/image" Target="../media/image3.svg"/><Relationship Id="rId9" Type="http://schemas.openxmlformats.org/officeDocument/2006/relationships/image" Target="../media/image8.png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8" Type="http://schemas.openxmlformats.org/officeDocument/2006/relationships/image" Target="../media/image7.svg"/><Relationship Id="rId3" Type="http://schemas.openxmlformats.org/officeDocument/2006/relationships/image" Target="../media/image2.png"/><Relationship Id="rId7" Type="http://schemas.openxmlformats.org/officeDocument/2006/relationships/image" Target="../media/image6.png"/><Relationship Id="rId2" Type="http://schemas.openxmlformats.org/officeDocument/2006/relationships/image" Target="../media/image1.jpg"/><Relationship Id="rId1" Type="http://schemas.openxmlformats.org/officeDocument/2006/relationships/slideMaster" Target="../slideMasters/slideMaster1.xml"/><Relationship Id="rId6" Type="http://schemas.openxmlformats.org/officeDocument/2006/relationships/image" Target="../media/image5.svg"/><Relationship Id="rId11" Type="http://schemas.openxmlformats.org/officeDocument/2006/relationships/image" Target="../media/image10.png"/><Relationship Id="rId5" Type="http://schemas.openxmlformats.org/officeDocument/2006/relationships/image" Target="../media/image4.png"/><Relationship Id="rId10" Type="http://schemas.openxmlformats.org/officeDocument/2006/relationships/image" Target="../media/image9.svg"/><Relationship Id="rId4" Type="http://schemas.openxmlformats.org/officeDocument/2006/relationships/image" Target="../media/image3.svg"/><Relationship Id="rId9" Type="http://schemas.openxmlformats.org/officeDocument/2006/relationships/image" Target="../media/image8.png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 dirty="0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dirty="0"/>
              <a:t>11/4/2025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dirty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44247403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dirty="0"/>
              <a:t>11/4/2025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dirty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11434222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dirty="0"/>
              <a:t>11/4/2025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dirty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851402861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dirty="0"/>
              <a:t>11/4/2025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dirty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28235625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dirty="0"/>
              <a:t>11/4/2025</a:t>
            </a:fld>
            <a:endParaRPr lang="en-US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dirty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386805522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dirty="0"/>
              <a:t>11/4/2025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dirty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583351265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dirty="0"/>
              <a:t>11/4/2025</a:t>
            </a:fld>
            <a:endParaRPr lang="en-US" dirty="0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dirty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76339217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dirty="0"/>
              <a:t>11/4/2025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dirty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29097136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dirty="0"/>
              <a:t>11/4/2025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dirty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555696613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dirty="0"/>
              <a:t>11/4/2025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dirty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34264856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dirty="0"/>
              <a:t>11/4/2025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dirty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47724335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Porta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4" name="Imagen 13" descr="Vista de una ciudad&#10;&#10;Descripción generada automáticamente">
            <a:extLst>
              <a:ext uri="{FF2B5EF4-FFF2-40B4-BE49-F238E27FC236}">
                <a16:creationId xmlns:a16="http://schemas.microsoft.com/office/drawing/2014/main" id="{15E1FBFF-3347-496D-99A1-DFB16468ACC9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12" name="Gráfico 11">
            <a:extLst>
              <a:ext uri="{FF2B5EF4-FFF2-40B4-BE49-F238E27FC236}">
                <a16:creationId xmlns:a16="http://schemas.microsoft.com/office/drawing/2014/main" id="{F3E43A05-558E-4AB4-8A61-B280805FE751}"/>
              </a:ext>
            </a:extLst>
          </p:cNvPr>
          <p:cNvPicPr>
            <a:picLocks noChangeAspect="1"/>
          </p:cNvPicPr>
          <p:nvPr userDrawn="1"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 flipV="1">
            <a:off x="0" y="0"/>
            <a:ext cx="3387043" cy="6858000"/>
          </a:xfrm>
          <a:prstGeom prst="rect">
            <a:avLst/>
          </a:prstGeom>
        </p:spPr>
      </p:pic>
      <p:sp>
        <p:nvSpPr>
          <p:cNvPr id="2" name="Título 1">
            <a:extLst>
              <a:ext uri="{FF2B5EF4-FFF2-40B4-BE49-F238E27FC236}">
                <a16:creationId xmlns:a16="http://schemas.microsoft.com/office/drawing/2014/main" id="{69FC8C93-64E0-40FA-BCCC-AE84C4637AE1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3714750" y="1113314"/>
            <a:ext cx="7531005" cy="1709737"/>
          </a:xfrm>
          <a:prstGeom prst="rect">
            <a:avLst/>
          </a:prstGeom>
        </p:spPr>
        <p:txBody>
          <a:bodyPr anchor="b">
            <a:normAutofit/>
          </a:bodyPr>
          <a:lstStyle>
            <a:lvl1pPr algn="l">
              <a:defRPr sz="4400">
                <a:solidFill>
                  <a:schemeClr val="bg1"/>
                </a:solidFill>
              </a:defRPr>
            </a:lvl1pPr>
          </a:lstStyle>
          <a:p>
            <a:r>
              <a:rPr lang="es-ES" dirty="0"/>
              <a:t>TÍTULO DE LA</a:t>
            </a:r>
            <a:br>
              <a:rPr lang="es-ES" dirty="0"/>
            </a:br>
            <a:r>
              <a:rPr lang="es-ES" dirty="0"/>
              <a:t>PRESENTACIÓN</a:t>
            </a:r>
            <a:endParaRPr lang="es-CL" dirty="0"/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342C6252-2DDB-43C0-8241-75FA02D53CF9}"/>
              </a:ext>
            </a:extLst>
          </p:cNvPr>
          <p:cNvSpPr>
            <a:spLocks noGrp="1"/>
          </p:cNvSpPr>
          <p:nvPr>
            <p:ph type="subTitle" idx="1" hasCustomPrompt="1"/>
          </p:nvPr>
        </p:nvSpPr>
        <p:spPr>
          <a:xfrm>
            <a:off x="3714750" y="5423227"/>
            <a:ext cx="7531005" cy="321459"/>
          </a:xfrm>
          <a:prstGeom prst="rect">
            <a:avLst/>
          </a:prstGeom>
        </p:spPr>
        <p:txBody>
          <a:bodyPr anchor="ctr">
            <a:noAutofit/>
          </a:bodyPr>
          <a:lstStyle>
            <a:lvl1pPr marL="0" indent="0" algn="l">
              <a:buNone/>
              <a:defRPr sz="1800" b="0">
                <a:solidFill>
                  <a:schemeClr val="bg1"/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s-ES" dirty="0"/>
              <a:t>Fecha</a:t>
            </a:r>
            <a:endParaRPr lang="es-CL" dirty="0"/>
          </a:p>
        </p:txBody>
      </p:sp>
      <p:pic>
        <p:nvPicPr>
          <p:cNvPr id="7" name="Gráfico 6">
            <a:extLst>
              <a:ext uri="{FF2B5EF4-FFF2-40B4-BE49-F238E27FC236}">
                <a16:creationId xmlns:a16="http://schemas.microsoft.com/office/drawing/2014/main" id="{37A3CFA5-8624-405F-88D5-77DBFD476C4B}"/>
              </a:ext>
            </a:extLst>
          </p:cNvPr>
          <p:cNvPicPr>
            <a:picLocks noChangeAspect="1"/>
          </p:cNvPicPr>
          <p:nvPr userDrawn="1"/>
        </p:nvPicPr>
        <p:blipFill>
          <a:blip r:embed="rId5"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3833043" y="2832100"/>
            <a:ext cx="8358957" cy="45719"/>
          </a:xfrm>
          <a:prstGeom prst="rect">
            <a:avLst/>
          </a:prstGeom>
        </p:spPr>
      </p:pic>
      <p:pic>
        <p:nvPicPr>
          <p:cNvPr id="11" name="Gráfico 10">
            <a:extLst>
              <a:ext uri="{FF2B5EF4-FFF2-40B4-BE49-F238E27FC236}">
                <a16:creationId xmlns:a16="http://schemas.microsoft.com/office/drawing/2014/main" id="{7331C72A-CEAF-43B1-BC2C-65EE3D4F9F18}"/>
              </a:ext>
            </a:extLst>
          </p:cNvPr>
          <p:cNvPicPr>
            <a:picLocks noChangeAspect="1"/>
          </p:cNvPicPr>
          <p:nvPr userDrawn="1"/>
        </p:nvPicPr>
        <p:blipFill>
          <a:blip r:embed="rId7">
            <a:extLs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>
            <a:off x="953192" y="3989714"/>
            <a:ext cx="913121" cy="1422074"/>
          </a:xfrm>
          <a:prstGeom prst="rect">
            <a:avLst/>
          </a:prstGeom>
        </p:spPr>
      </p:pic>
      <p:pic>
        <p:nvPicPr>
          <p:cNvPr id="16" name="Gráfico 15">
            <a:extLst>
              <a:ext uri="{FF2B5EF4-FFF2-40B4-BE49-F238E27FC236}">
                <a16:creationId xmlns:a16="http://schemas.microsoft.com/office/drawing/2014/main" id="{7C16ECB8-BC9A-415C-9C71-1BF995F5C0AF}"/>
              </a:ext>
            </a:extLst>
          </p:cNvPr>
          <p:cNvPicPr>
            <a:picLocks noChangeAspect="1"/>
          </p:cNvPicPr>
          <p:nvPr userDrawn="1"/>
        </p:nvPicPr>
        <p:blipFill>
          <a:blip r:embed="rId9">
            <a:extLst>
              <a:ext uri="{96DAC541-7B7A-43D3-8B79-37D633B846F1}">
                <asvg:svgBlip xmlns:asvg="http://schemas.microsoft.com/office/drawing/2016/SVG/main" r:embed="rId10"/>
              </a:ext>
            </a:extLst>
          </a:blip>
          <a:stretch>
            <a:fillRect/>
          </a:stretch>
        </p:blipFill>
        <p:spPr>
          <a:xfrm>
            <a:off x="8876232" y="3839984"/>
            <a:ext cx="3929815" cy="3881596"/>
          </a:xfrm>
          <a:prstGeom prst="rect">
            <a:avLst/>
          </a:prstGeom>
        </p:spPr>
      </p:pic>
      <p:sp>
        <p:nvSpPr>
          <p:cNvPr id="19" name="Marcador de texto 18">
            <a:extLst>
              <a:ext uri="{FF2B5EF4-FFF2-40B4-BE49-F238E27FC236}">
                <a16:creationId xmlns:a16="http://schemas.microsoft.com/office/drawing/2014/main" id="{9DA36818-F61B-4B28-B280-572A83C6FC95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3714750" y="4114810"/>
            <a:ext cx="7531005" cy="755650"/>
          </a:xfrm>
        </p:spPr>
        <p:txBody>
          <a:bodyPr anchor="ctr"/>
          <a:lstStyle>
            <a:lvl1pPr marL="0" indent="0">
              <a:buNone/>
              <a:defRPr>
                <a:solidFill>
                  <a:schemeClr val="bg1"/>
                </a:solidFill>
              </a:defRPr>
            </a:lvl1pPr>
            <a:lvl5pPr marL="1828800" indent="0">
              <a:buNone/>
              <a:defRPr>
                <a:solidFill>
                  <a:schemeClr val="bg1"/>
                </a:solidFill>
              </a:defRPr>
            </a:lvl5pPr>
          </a:lstStyle>
          <a:p>
            <a:r>
              <a:rPr lang="es-ES" dirty="0"/>
              <a:t>Área que presenta</a:t>
            </a:r>
            <a:endParaRPr lang="es-CL" dirty="0"/>
          </a:p>
        </p:txBody>
      </p:sp>
      <p:pic>
        <p:nvPicPr>
          <p:cNvPr id="6" name="Imagen 5">
            <a:extLst>
              <a:ext uri="{FF2B5EF4-FFF2-40B4-BE49-F238E27FC236}">
                <a16:creationId xmlns:a16="http://schemas.microsoft.com/office/drawing/2014/main" id="{DD90F2D1-CA48-4F24-8AB0-6D7C52220953}"/>
              </a:ext>
            </a:extLst>
          </p:cNvPr>
          <p:cNvPicPr>
            <a:picLocks noChangeAspect="1"/>
          </p:cNvPicPr>
          <p:nvPr userDrawn="1"/>
        </p:nvPicPr>
        <p:blipFill>
          <a:blip r:embed="rId1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304800" y="1827613"/>
            <a:ext cx="1968619" cy="68686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34815287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ítulo y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59DA4E72-5B16-44F6-9635-C5BD9AF6281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09600" y="2174545"/>
            <a:ext cx="10972800" cy="4351338"/>
          </a:xfrm>
          <a:prstGeom prst="rect">
            <a:avLst/>
          </a:prstGeom>
        </p:spPr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CL"/>
          </a:p>
        </p:txBody>
      </p:sp>
      <p:sp>
        <p:nvSpPr>
          <p:cNvPr id="8" name="Marcador de título 1">
            <a:extLst>
              <a:ext uri="{FF2B5EF4-FFF2-40B4-BE49-F238E27FC236}">
                <a16:creationId xmlns:a16="http://schemas.microsoft.com/office/drawing/2014/main" id="{01F0777D-47A6-4CCF-BC6D-32AE8E27C56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09601" y="293301"/>
            <a:ext cx="9867900" cy="697036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endParaRPr lang="es-CL" dirty="0"/>
          </a:p>
        </p:txBody>
      </p:sp>
    </p:spTree>
    <p:extLst>
      <p:ext uri="{BB962C8B-B14F-4D97-AF65-F5344CB8AC3E}">
        <p14:creationId xmlns:p14="http://schemas.microsoft.com/office/powerpoint/2010/main" val="2641477891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ierr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4" name="Imagen 13" descr="Vista de una ciudad&#10;&#10;Descripción generada automáticamente">
            <a:extLst>
              <a:ext uri="{FF2B5EF4-FFF2-40B4-BE49-F238E27FC236}">
                <a16:creationId xmlns:a16="http://schemas.microsoft.com/office/drawing/2014/main" id="{15E1FBFF-3347-496D-99A1-DFB16468ACC9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9" name="Gráfico 8">
            <a:extLst>
              <a:ext uri="{FF2B5EF4-FFF2-40B4-BE49-F238E27FC236}">
                <a16:creationId xmlns:a16="http://schemas.microsoft.com/office/drawing/2014/main" id="{072303AE-2C5D-4DCC-A5E2-A6B5615EBFDA}"/>
              </a:ext>
            </a:extLst>
          </p:cNvPr>
          <p:cNvPicPr>
            <a:picLocks noChangeAspect="1"/>
          </p:cNvPicPr>
          <p:nvPr userDrawn="1"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 flipV="1">
            <a:off x="0" y="0"/>
            <a:ext cx="3387043" cy="6858000"/>
          </a:xfrm>
          <a:prstGeom prst="rect">
            <a:avLst/>
          </a:prstGeom>
        </p:spPr>
      </p:pic>
      <p:pic>
        <p:nvPicPr>
          <p:cNvPr id="7" name="Gráfico 6">
            <a:extLst>
              <a:ext uri="{FF2B5EF4-FFF2-40B4-BE49-F238E27FC236}">
                <a16:creationId xmlns:a16="http://schemas.microsoft.com/office/drawing/2014/main" id="{37A3CFA5-8624-405F-88D5-77DBFD476C4B}"/>
              </a:ext>
            </a:extLst>
          </p:cNvPr>
          <p:cNvPicPr>
            <a:picLocks noChangeAspect="1"/>
          </p:cNvPicPr>
          <p:nvPr userDrawn="1"/>
        </p:nvPicPr>
        <p:blipFill>
          <a:blip r:embed="rId5"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3833043" y="2832100"/>
            <a:ext cx="8358957" cy="45719"/>
          </a:xfrm>
          <a:prstGeom prst="rect">
            <a:avLst/>
          </a:prstGeom>
        </p:spPr>
      </p:pic>
      <p:pic>
        <p:nvPicPr>
          <p:cNvPr id="11" name="Gráfico 10">
            <a:extLst>
              <a:ext uri="{FF2B5EF4-FFF2-40B4-BE49-F238E27FC236}">
                <a16:creationId xmlns:a16="http://schemas.microsoft.com/office/drawing/2014/main" id="{7331C72A-CEAF-43B1-BC2C-65EE3D4F9F18}"/>
              </a:ext>
            </a:extLst>
          </p:cNvPr>
          <p:cNvPicPr>
            <a:picLocks noChangeAspect="1"/>
          </p:cNvPicPr>
          <p:nvPr userDrawn="1"/>
        </p:nvPicPr>
        <p:blipFill>
          <a:blip r:embed="rId7">
            <a:extLs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>
            <a:off x="953192" y="3989714"/>
            <a:ext cx="913121" cy="1422074"/>
          </a:xfrm>
          <a:prstGeom prst="rect">
            <a:avLst/>
          </a:prstGeom>
        </p:spPr>
      </p:pic>
      <p:pic>
        <p:nvPicPr>
          <p:cNvPr id="16" name="Gráfico 15">
            <a:extLst>
              <a:ext uri="{FF2B5EF4-FFF2-40B4-BE49-F238E27FC236}">
                <a16:creationId xmlns:a16="http://schemas.microsoft.com/office/drawing/2014/main" id="{7C16ECB8-BC9A-415C-9C71-1BF995F5C0AF}"/>
              </a:ext>
            </a:extLst>
          </p:cNvPr>
          <p:cNvPicPr>
            <a:picLocks noChangeAspect="1"/>
          </p:cNvPicPr>
          <p:nvPr userDrawn="1"/>
        </p:nvPicPr>
        <p:blipFill>
          <a:blip r:embed="rId9">
            <a:extLst>
              <a:ext uri="{96DAC541-7B7A-43D3-8B79-37D633B846F1}">
                <asvg:svgBlip xmlns:asvg="http://schemas.microsoft.com/office/drawing/2016/SVG/main" r:embed="rId10"/>
              </a:ext>
            </a:extLst>
          </a:blip>
          <a:stretch>
            <a:fillRect/>
          </a:stretch>
        </p:blipFill>
        <p:spPr>
          <a:xfrm>
            <a:off x="8876232" y="3839984"/>
            <a:ext cx="3929815" cy="3881596"/>
          </a:xfrm>
          <a:prstGeom prst="rect">
            <a:avLst/>
          </a:prstGeom>
        </p:spPr>
      </p:pic>
      <p:sp>
        <p:nvSpPr>
          <p:cNvPr id="4" name="CuadroTexto 3">
            <a:extLst>
              <a:ext uri="{FF2B5EF4-FFF2-40B4-BE49-F238E27FC236}">
                <a16:creationId xmlns:a16="http://schemas.microsoft.com/office/drawing/2014/main" id="{4F70C511-72C5-4DA8-80A5-9C968DFCAEE1}"/>
              </a:ext>
            </a:extLst>
          </p:cNvPr>
          <p:cNvSpPr txBox="1"/>
          <p:nvPr userDrawn="1"/>
        </p:nvSpPr>
        <p:spPr>
          <a:xfrm>
            <a:off x="3743324" y="2101561"/>
            <a:ext cx="5743575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ES" sz="3600" b="1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MUCHAS GRACIAS</a:t>
            </a:r>
            <a:endParaRPr lang="es-CL" sz="3600" b="1" dirty="0">
              <a:solidFill>
                <a:schemeClr val="bg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pic>
        <p:nvPicPr>
          <p:cNvPr id="2" name="Imagen 1">
            <a:extLst>
              <a:ext uri="{FF2B5EF4-FFF2-40B4-BE49-F238E27FC236}">
                <a16:creationId xmlns:a16="http://schemas.microsoft.com/office/drawing/2014/main" id="{27E9E6E3-D485-4F02-BF1E-7E961E1F2699}"/>
              </a:ext>
            </a:extLst>
          </p:cNvPr>
          <p:cNvPicPr>
            <a:picLocks noChangeAspect="1"/>
          </p:cNvPicPr>
          <p:nvPr userDrawn="1"/>
        </p:nvPicPr>
        <p:blipFill>
          <a:blip r:embed="rId1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304800" y="1827613"/>
            <a:ext cx="1968619" cy="68686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1764597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theme" Target="../theme/theme1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C764DE79-268F-4C1A-8933-263129D2AF90}" type="datetimeFigureOut">
              <a:rPr lang="en-US" dirty="0"/>
              <a:t>11/4/2025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48F63A3B-78C7-47BE-AE5E-E10140E04643}" type="slidenum">
              <a:rPr lang="en-US" dirty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2131247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92" r:id="rId1"/>
    <p:sldLayoutId id="2147483693" r:id="rId2"/>
    <p:sldLayoutId id="2147483694" r:id="rId3"/>
    <p:sldLayoutId id="2147483695" r:id="rId4"/>
    <p:sldLayoutId id="2147483696" r:id="rId5"/>
    <p:sldLayoutId id="2147483697" r:id="rId6"/>
    <p:sldLayoutId id="2147483698" r:id="rId7"/>
    <p:sldLayoutId id="2147483699" r:id="rId8"/>
    <p:sldLayoutId id="2147483700" r:id="rId9"/>
    <p:sldLayoutId id="2147483701" r:id="rId10"/>
    <p:sldLayoutId id="2147483702" r:id="rId11"/>
    <p:sldLayoutId id="2147483703" r:id="rId12"/>
    <p:sldLayoutId id="2147483704" r:id="rId13"/>
    <p:sldLayoutId id="2147483705" r:id="rId14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DDA8FDDA-8140-4E23-9A8B-C8DBBABDAD59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>
            <a:normAutofit fontScale="90000"/>
          </a:bodyPr>
          <a:lstStyle/>
          <a:p>
            <a:r>
              <a:rPr lang="en-US" dirty="0">
                <a:latin typeface="Arial"/>
                <a:cs typeface="Arial"/>
              </a:rPr>
              <a:t>Avance 1 – Sistema de Gestión de IP y MAC con Nmap y Pi-hole</a:t>
            </a:r>
          </a:p>
          <a:p>
            <a:endParaRPr lang="en-US" noProof="1">
              <a:latin typeface="Arial"/>
              <a:cs typeface="Arial"/>
            </a:endParaRPr>
          </a:p>
        </p:txBody>
      </p:sp>
      <p:sp>
        <p:nvSpPr>
          <p:cNvPr id="7" name="Subtítulo 6">
            <a:extLst>
              <a:ext uri="{FF2B5EF4-FFF2-40B4-BE49-F238E27FC236}">
                <a16:creationId xmlns:a16="http://schemas.microsoft.com/office/drawing/2014/main" id="{B00BC0CF-B17D-4A50-ABE9-4484FAE4760D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s-CL" dirty="0">
                <a:latin typeface="Arial"/>
                <a:cs typeface="Arial"/>
              </a:rPr>
              <a:t>Fecha: 05-11-2025</a:t>
            </a:r>
            <a:endParaRPr lang="es-CL" dirty="0"/>
          </a:p>
        </p:txBody>
      </p:sp>
      <p:sp>
        <p:nvSpPr>
          <p:cNvPr id="8" name="Marcador de texto 7">
            <a:extLst>
              <a:ext uri="{FF2B5EF4-FFF2-40B4-BE49-F238E27FC236}">
                <a16:creationId xmlns:a16="http://schemas.microsoft.com/office/drawing/2014/main" id="{24A6EDC5-665D-4C54-9434-DB56AD78E396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/>
        <p:txBody>
          <a:bodyPr vert="horz" lIns="91440" tIns="45720" rIns="91440" bIns="45720" rtlCol="0" anchor="ctr">
            <a:noAutofit/>
          </a:bodyPr>
          <a:lstStyle/>
          <a:p>
            <a:r>
              <a:rPr lang="es-CL" sz="1200" b="1" noProof="1">
                <a:latin typeface="Arial"/>
                <a:cs typeface="Arial"/>
              </a:rPr>
              <a:t>Autor:</a:t>
            </a:r>
            <a:r>
              <a:rPr lang="es-CL" sz="1200" noProof="1">
                <a:latin typeface="Arial"/>
                <a:cs typeface="Arial"/>
              </a:rPr>
              <a:t> Charlie Bailey Moya</a:t>
            </a:r>
            <a:br>
              <a:rPr lang="es-CL" sz="1200" noProof="1">
                <a:latin typeface="Arial"/>
                <a:cs typeface="Arial"/>
              </a:rPr>
            </a:br>
            <a:r>
              <a:rPr lang="es-CL" sz="1200" b="1" noProof="1">
                <a:latin typeface="Arial"/>
                <a:cs typeface="Arial"/>
              </a:rPr>
              <a:t>Carrera:</a:t>
            </a:r>
            <a:r>
              <a:rPr lang="es-CL" sz="1200" noProof="1">
                <a:latin typeface="Arial"/>
                <a:cs typeface="Arial"/>
              </a:rPr>
              <a:t> Programación y Análisis de Sistemas — AIEP Concepción</a:t>
            </a:r>
            <a:br>
              <a:rPr lang="es-CL" sz="1200" noProof="1">
                <a:latin typeface="Arial"/>
                <a:cs typeface="Arial"/>
              </a:rPr>
            </a:br>
            <a:r>
              <a:rPr lang="es-CL" sz="1200" b="1" noProof="1">
                <a:latin typeface="Arial"/>
                <a:cs typeface="Arial"/>
              </a:rPr>
              <a:t>Profesor Guía:</a:t>
            </a:r>
            <a:r>
              <a:rPr lang="es-CL" sz="1200" noProof="1">
                <a:latin typeface="Arial"/>
                <a:cs typeface="Arial"/>
              </a:rPr>
              <a:t> Víctor Valderrama</a:t>
            </a:r>
            <a:br>
              <a:rPr lang="es-CL" sz="1200" noProof="1">
                <a:latin typeface="Arial"/>
                <a:cs typeface="Arial"/>
              </a:rPr>
            </a:br>
            <a:r>
              <a:rPr lang="es-CL" sz="1200" b="1" noProof="1">
                <a:latin typeface="Arial"/>
                <a:cs typeface="Arial"/>
              </a:rPr>
              <a:t>Año:</a:t>
            </a:r>
            <a:r>
              <a:rPr lang="es-CL" sz="1200" noProof="1">
                <a:latin typeface="Arial"/>
                <a:cs typeface="Arial"/>
              </a:rPr>
              <a:t> 2025</a:t>
            </a:r>
            <a:endParaRPr lang="en-US" sz="1200" dirty="0"/>
          </a:p>
        </p:txBody>
      </p:sp>
    </p:spTree>
    <p:extLst>
      <p:ext uri="{BB962C8B-B14F-4D97-AF65-F5344CB8AC3E}">
        <p14:creationId xmlns:p14="http://schemas.microsoft.com/office/powerpoint/2010/main" val="655980967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907EF6B7-1338-4443-8C46-6A318D952DF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3048" y="0"/>
            <a:ext cx="12188952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Freeform: Shape 9">
            <a:extLst>
              <a:ext uri="{FF2B5EF4-FFF2-40B4-BE49-F238E27FC236}">
                <a16:creationId xmlns:a16="http://schemas.microsoft.com/office/drawing/2014/main" id="{DAAE4CDD-124C-4DCF-9584-B6033B545DD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" y="0"/>
            <a:ext cx="4167271" cy="6858000"/>
          </a:xfrm>
          <a:custGeom>
            <a:avLst/>
            <a:gdLst>
              <a:gd name="connsiteX0" fmla="*/ 0 w 4167271"/>
              <a:gd name="connsiteY0" fmla="*/ 0 h 6858000"/>
              <a:gd name="connsiteX1" fmla="*/ 2259550 w 4167271"/>
              <a:gd name="connsiteY1" fmla="*/ 0 h 6858000"/>
              <a:gd name="connsiteX2" fmla="*/ 2387803 w 4167271"/>
              <a:gd name="connsiteY2" fmla="*/ 82222 h 6858000"/>
              <a:gd name="connsiteX3" fmla="*/ 4167271 w 4167271"/>
              <a:gd name="connsiteY3" fmla="*/ 3429000 h 6858000"/>
              <a:gd name="connsiteX4" fmla="*/ 2387803 w 4167271"/>
              <a:gd name="connsiteY4" fmla="*/ 6775779 h 6858000"/>
              <a:gd name="connsiteX5" fmla="*/ 2259550 w 4167271"/>
              <a:gd name="connsiteY5" fmla="*/ 6858000 h 6858000"/>
              <a:gd name="connsiteX6" fmla="*/ 0 w 4167271"/>
              <a:gd name="connsiteY6" fmla="*/ 685800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4167271" h="6858000">
                <a:moveTo>
                  <a:pt x="0" y="0"/>
                </a:moveTo>
                <a:lnTo>
                  <a:pt x="2259550" y="0"/>
                </a:lnTo>
                <a:lnTo>
                  <a:pt x="2387803" y="82222"/>
                </a:lnTo>
                <a:cubicBezTo>
                  <a:pt x="3461407" y="807534"/>
                  <a:pt x="4167271" y="2035835"/>
                  <a:pt x="4167271" y="3429000"/>
                </a:cubicBezTo>
                <a:cubicBezTo>
                  <a:pt x="4167271" y="4822165"/>
                  <a:pt x="3461407" y="6050467"/>
                  <a:pt x="2387803" y="6775779"/>
                </a:cubicBezTo>
                <a:lnTo>
                  <a:pt x="2259550" y="6858000"/>
                </a:lnTo>
                <a:lnTo>
                  <a:pt x="0" y="6858000"/>
                </a:lnTo>
                <a:close/>
              </a:path>
            </a:pathLst>
          </a:cu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Title 2"/>
          <p:cNvSpPr>
            <a:spLocks noGrp="1"/>
          </p:cNvSpPr>
          <p:nvPr>
            <p:ph type="title"/>
          </p:nvPr>
        </p:nvSpPr>
        <p:spPr>
          <a:xfrm>
            <a:off x="686834" y="1153572"/>
            <a:ext cx="3200400" cy="4461163"/>
          </a:xfr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kern="1200">
                <a:solidFill>
                  <a:srgbClr val="FFFFFF"/>
                </a:solidFill>
                <a:latin typeface="+mj-lt"/>
                <a:ea typeface="+mj-ea"/>
                <a:cs typeface="+mj-cs"/>
              </a:rPr>
              <a:t>Introducción</a:t>
            </a:r>
          </a:p>
        </p:txBody>
      </p:sp>
      <p:sp>
        <p:nvSpPr>
          <p:cNvPr id="12" name="Arc 11">
            <a:extLst>
              <a:ext uri="{FF2B5EF4-FFF2-40B4-BE49-F238E27FC236}">
                <a16:creationId xmlns:a16="http://schemas.microsoft.com/office/drawing/2014/main" id="{081E4A58-353D-44AE-B2FC-2A74E2E400F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V="1">
            <a:off x="7550402" y="2455479"/>
            <a:ext cx="4083433" cy="4083433"/>
          </a:xfrm>
          <a:prstGeom prst="arc">
            <a:avLst/>
          </a:prstGeom>
          <a:ln w="127000" cap="rnd">
            <a:solidFill>
              <a:schemeClr val="accent4"/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" name="Content Placeholder 1"/>
          <p:cNvSpPr>
            <a:spLocks noGrp="1"/>
          </p:cNvSpPr>
          <p:nvPr>
            <p:ph idx="1"/>
          </p:nvPr>
        </p:nvSpPr>
        <p:spPr>
          <a:xfrm>
            <a:off x="4447308" y="591344"/>
            <a:ext cx="6906491" cy="5585619"/>
          </a:xfr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z="2400" noProof="1"/>
              <a:t>En el contexto actual, la administración eficiente de redes locales se ha vuelto esencial para instituciones, empresas y hogares.</a:t>
            </a:r>
            <a:br>
              <a:rPr lang="en-US" sz="2400" noProof="1"/>
            </a:br>
            <a:r>
              <a:rPr lang="en-US" sz="2400" noProof="1"/>
              <a:t> El aumento de dispositivos conectados, junto con la falta de control sobre las direcciones IP y MAC, genera congestión, pérdida de rendimiento y problemas de seguridad en las redes.</a:t>
            </a:r>
            <a:br>
              <a:rPr lang="en-US" sz="2400" noProof="1"/>
            </a:br>
            <a:r>
              <a:rPr lang="en-US" sz="2400" noProof="1"/>
              <a:t> Este proyecto nace como una respuesta a esa necesidad: </a:t>
            </a:r>
            <a:r>
              <a:rPr lang="en-US" sz="2400" b="1" noProof="1"/>
              <a:t>un sistema de gestión inteligente de IP y MAC</a:t>
            </a:r>
            <a:r>
              <a:rPr lang="en-US" sz="2400" noProof="1"/>
              <a:t>, que integre herramientas de </a:t>
            </a:r>
            <a:r>
              <a:rPr lang="en-US" sz="2400" b="1" noProof="1"/>
              <a:t>software libre</a:t>
            </a:r>
            <a:r>
              <a:rPr lang="en-US" sz="2400" noProof="1"/>
              <a:t> como </a:t>
            </a:r>
            <a:r>
              <a:rPr lang="en-US" sz="2400" b="1" noProof="1"/>
              <a:t>Nmap</a:t>
            </a:r>
            <a:r>
              <a:rPr lang="en-US" sz="2400" noProof="1"/>
              <a:t> y </a:t>
            </a:r>
            <a:r>
              <a:rPr lang="en-US" sz="2400" b="1" noProof="1"/>
              <a:t>Pi-hole</a:t>
            </a:r>
            <a:r>
              <a:rPr lang="en-US" sz="2400" noProof="1"/>
              <a:t>, para ofrecer un control automatizado, confiable y accesible del tráfico y de los dispositivos conectados.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50" name="Rectangle 49">
            <a:extLst>
              <a:ext uri="{FF2B5EF4-FFF2-40B4-BE49-F238E27FC236}">
                <a16:creationId xmlns:a16="http://schemas.microsoft.com/office/drawing/2014/main" id="{907EF6B7-1338-4443-8C46-6A318D952DF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3048" y="0"/>
            <a:ext cx="12188952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2" name="Freeform: Shape 51">
            <a:extLst>
              <a:ext uri="{FF2B5EF4-FFF2-40B4-BE49-F238E27FC236}">
                <a16:creationId xmlns:a16="http://schemas.microsoft.com/office/drawing/2014/main" id="{DAAE4CDD-124C-4DCF-9584-B6033B545DD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" y="0"/>
            <a:ext cx="4167271" cy="6858000"/>
          </a:xfrm>
          <a:custGeom>
            <a:avLst/>
            <a:gdLst>
              <a:gd name="connsiteX0" fmla="*/ 0 w 4167271"/>
              <a:gd name="connsiteY0" fmla="*/ 0 h 6858000"/>
              <a:gd name="connsiteX1" fmla="*/ 2259550 w 4167271"/>
              <a:gd name="connsiteY1" fmla="*/ 0 h 6858000"/>
              <a:gd name="connsiteX2" fmla="*/ 2387803 w 4167271"/>
              <a:gd name="connsiteY2" fmla="*/ 82222 h 6858000"/>
              <a:gd name="connsiteX3" fmla="*/ 4167271 w 4167271"/>
              <a:gd name="connsiteY3" fmla="*/ 3429000 h 6858000"/>
              <a:gd name="connsiteX4" fmla="*/ 2387803 w 4167271"/>
              <a:gd name="connsiteY4" fmla="*/ 6775779 h 6858000"/>
              <a:gd name="connsiteX5" fmla="*/ 2259550 w 4167271"/>
              <a:gd name="connsiteY5" fmla="*/ 6858000 h 6858000"/>
              <a:gd name="connsiteX6" fmla="*/ 0 w 4167271"/>
              <a:gd name="connsiteY6" fmla="*/ 685800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4167271" h="6858000">
                <a:moveTo>
                  <a:pt x="0" y="0"/>
                </a:moveTo>
                <a:lnTo>
                  <a:pt x="2259550" y="0"/>
                </a:lnTo>
                <a:lnTo>
                  <a:pt x="2387803" y="82222"/>
                </a:lnTo>
                <a:cubicBezTo>
                  <a:pt x="3461407" y="807534"/>
                  <a:pt x="4167271" y="2035835"/>
                  <a:pt x="4167271" y="3429000"/>
                </a:cubicBezTo>
                <a:cubicBezTo>
                  <a:pt x="4167271" y="4822165"/>
                  <a:pt x="3461407" y="6050467"/>
                  <a:pt x="2387803" y="6775779"/>
                </a:cubicBezTo>
                <a:lnTo>
                  <a:pt x="2259550" y="6858000"/>
                </a:lnTo>
                <a:lnTo>
                  <a:pt x="0" y="6858000"/>
                </a:lnTo>
                <a:close/>
              </a:path>
            </a:pathLst>
          </a:cu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Title 2"/>
          <p:cNvSpPr>
            <a:spLocks noGrp="1"/>
          </p:cNvSpPr>
          <p:nvPr>
            <p:ph type="title"/>
          </p:nvPr>
        </p:nvSpPr>
        <p:spPr>
          <a:xfrm>
            <a:off x="686834" y="1153572"/>
            <a:ext cx="3200400" cy="4461163"/>
          </a:xfr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b="0" kern="1200" noProof="1">
                <a:solidFill>
                  <a:srgbClr val="FFFFFF"/>
                </a:solidFill>
                <a:latin typeface="+mj-lt"/>
                <a:ea typeface="+mj-ea"/>
                <a:cs typeface="+mj-cs"/>
              </a:rPr>
              <a:t> Descripción del Proyecto</a:t>
            </a:r>
            <a:endParaRPr lang="en-US" kern="1200" dirty="0">
              <a:solidFill>
                <a:srgbClr val="FFFFFF"/>
              </a:solidFill>
              <a:latin typeface="+mj-lt"/>
              <a:ea typeface="+mj-ea"/>
              <a:cs typeface="+mj-cs"/>
            </a:endParaRPr>
          </a:p>
        </p:txBody>
      </p:sp>
      <p:sp>
        <p:nvSpPr>
          <p:cNvPr id="54" name="Arc 53">
            <a:extLst>
              <a:ext uri="{FF2B5EF4-FFF2-40B4-BE49-F238E27FC236}">
                <a16:creationId xmlns:a16="http://schemas.microsoft.com/office/drawing/2014/main" id="{081E4A58-353D-44AE-B2FC-2A74E2E400F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V="1">
            <a:off x="7550402" y="2455479"/>
            <a:ext cx="4083433" cy="4083433"/>
          </a:xfrm>
          <a:prstGeom prst="arc">
            <a:avLst/>
          </a:prstGeom>
          <a:ln w="127000" cap="rnd">
            <a:solidFill>
              <a:schemeClr val="accent4"/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45" name="Content Placeholder 44">
            <a:extLst>
              <a:ext uri="{FF2B5EF4-FFF2-40B4-BE49-F238E27FC236}">
                <a16:creationId xmlns:a16="http://schemas.microsoft.com/office/drawing/2014/main" id="{847E9E94-6C6C-2263-941B-DDB9568A414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447308" y="591344"/>
            <a:ext cx="6906491" cy="5585619"/>
          </a:xfr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s-CL" sz="2600" noProof="1"/>
              <a:t>El Sistema propuesto permitirá </a:t>
            </a:r>
            <a:r>
              <a:rPr lang="es-CL" sz="2600" b="1" noProof="1"/>
              <a:t>registrar, monitorear y administrar los dispositivos de una red local</a:t>
            </a:r>
            <a:r>
              <a:rPr lang="es-CL" sz="2600" noProof="1"/>
              <a:t> mediante una interfaz web desarrollada en </a:t>
            </a:r>
            <a:r>
              <a:rPr lang="es-CL" sz="2600" b="1" noProof="1"/>
              <a:t>PHP y MySQL</a:t>
            </a:r>
            <a:r>
              <a:rPr lang="es-CL" sz="2600" noProof="1"/>
              <a:t>.</a:t>
            </a:r>
            <a:br>
              <a:rPr lang="es-CL" sz="2600" noProof="1"/>
            </a:br>
            <a:r>
              <a:rPr lang="es-CL" sz="2600" noProof="1"/>
              <a:t> A través de </a:t>
            </a:r>
            <a:r>
              <a:rPr lang="es-CL" sz="2600" b="1" noProof="1"/>
              <a:t>Nmap</a:t>
            </a:r>
            <a:r>
              <a:rPr lang="es-CL" sz="2600" noProof="1"/>
              <a:t>, el sistema detectará automáticamente las IP, MAC y nombres de host activos, mientras que </a:t>
            </a:r>
            <a:r>
              <a:rPr lang="es-CL" sz="2600" b="1" noProof="1"/>
              <a:t>Pi-hole</a:t>
            </a:r>
            <a:r>
              <a:rPr lang="es-CL" sz="2600" noProof="1"/>
              <a:t> permitirá registrar las consultas DNS de cada dispositivo, generando así un historial básico de navegación.</a:t>
            </a:r>
            <a:br>
              <a:rPr lang="es-CL" sz="2600" noProof="1"/>
            </a:br>
            <a:r>
              <a:rPr lang="es-CL" sz="2600" noProof="1"/>
              <a:t> Con ello, se busca optimizar el uso de los recursos de red, reducir el colapso de IP disponibles y mejorar la trazabilidad de la información.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26" name="Rectangle 25">
            <a:extLst>
              <a:ext uri="{FF2B5EF4-FFF2-40B4-BE49-F238E27FC236}">
                <a16:creationId xmlns:a16="http://schemas.microsoft.com/office/drawing/2014/main" id="{907EF6B7-1338-4443-8C46-6A318D952DF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3048" y="0"/>
            <a:ext cx="12188952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8" name="Freeform: Shape 27">
            <a:extLst>
              <a:ext uri="{FF2B5EF4-FFF2-40B4-BE49-F238E27FC236}">
                <a16:creationId xmlns:a16="http://schemas.microsoft.com/office/drawing/2014/main" id="{DAAE4CDD-124C-4DCF-9584-B6033B545DD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" y="0"/>
            <a:ext cx="4167271" cy="6858000"/>
          </a:xfrm>
          <a:custGeom>
            <a:avLst/>
            <a:gdLst>
              <a:gd name="connsiteX0" fmla="*/ 0 w 4167271"/>
              <a:gd name="connsiteY0" fmla="*/ 0 h 6858000"/>
              <a:gd name="connsiteX1" fmla="*/ 2259550 w 4167271"/>
              <a:gd name="connsiteY1" fmla="*/ 0 h 6858000"/>
              <a:gd name="connsiteX2" fmla="*/ 2387803 w 4167271"/>
              <a:gd name="connsiteY2" fmla="*/ 82222 h 6858000"/>
              <a:gd name="connsiteX3" fmla="*/ 4167271 w 4167271"/>
              <a:gd name="connsiteY3" fmla="*/ 3429000 h 6858000"/>
              <a:gd name="connsiteX4" fmla="*/ 2387803 w 4167271"/>
              <a:gd name="connsiteY4" fmla="*/ 6775779 h 6858000"/>
              <a:gd name="connsiteX5" fmla="*/ 2259550 w 4167271"/>
              <a:gd name="connsiteY5" fmla="*/ 6858000 h 6858000"/>
              <a:gd name="connsiteX6" fmla="*/ 0 w 4167271"/>
              <a:gd name="connsiteY6" fmla="*/ 685800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4167271" h="6858000">
                <a:moveTo>
                  <a:pt x="0" y="0"/>
                </a:moveTo>
                <a:lnTo>
                  <a:pt x="2259550" y="0"/>
                </a:lnTo>
                <a:lnTo>
                  <a:pt x="2387803" y="82222"/>
                </a:lnTo>
                <a:cubicBezTo>
                  <a:pt x="3461407" y="807534"/>
                  <a:pt x="4167271" y="2035835"/>
                  <a:pt x="4167271" y="3429000"/>
                </a:cubicBezTo>
                <a:cubicBezTo>
                  <a:pt x="4167271" y="4822165"/>
                  <a:pt x="3461407" y="6050467"/>
                  <a:pt x="2387803" y="6775779"/>
                </a:cubicBezTo>
                <a:lnTo>
                  <a:pt x="2259550" y="6858000"/>
                </a:lnTo>
                <a:lnTo>
                  <a:pt x="0" y="6858000"/>
                </a:lnTo>
                <a:close/>
              </a:path>
            </a:pathLst>
          </a:cu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Title 2"/>
          <p:cNvSpPr>
            <a:spLocks noGrp="1"/>
          </p:cNvSpPr>
          <p:nvPr>
            <p:ph type="title"/>
          </p:nvPr>
        </p:nvSpPr>
        <p:spPr>
          <a:xfrm>
            <a:off x="686834" y="1153572"/>
            <a:ext cx="3200400" cy="4461163"/>
          </a:xfr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kern="1200" dirty="0" err="1">
                <a:solidFill>
                  <a:srgbClr val="FFFFFF"/>
                </a:solidFill>
                <a:latin typeface="+mj-lt"/>
                <a:ea typeface="+mj-ea"/>
                <a:cs typeface="+mj-cs"/>
              </a:rPr>
              <a:t>Objetivo</a:t>
            </a:r>
            <a:r>
              <a:rPr lang="en-US" kern="1200" dirty="0">
                <a:solidFill>
                  <a:srgbClr val="FFFFFF"/>
                </a:solidFill>
                <a:latin typeface="+mj-lt"/>
                <a:ea typeface="+mj-ea"/>
                <a:cs typeface="+mj-cs"/>
              </a:rPr>
              <a:t> General</a:t>
            </a:r>
          </a:p>
          <a:p>
            <a:endParaRPr lang="en-US" kern="1200">
              <a:solidFill>
                <a:srgbClr val="FFFFFF"/>
              </a:solidFill>
              <a:latin typeface="+mj-lt"/>
              <a:ea typeface="+mj-ea"/>
              <a:cs typeface="+mj-cs"/>
            </a:endParaRPr>
          </a:p>
        </p:txBody>
      </p:sp>
      <p:sp>
        <p:nvSpPr>
          <p:cNvPr id="30" name="Arc 29">
            <a:extLst>
              <a:ext uri="{FF2B5EF4-FFF2-40B4-BE49-F238E27FC236}">
                <a16:creationId xmlns:a16="http://schemas.microsoft.com/office/drawing/2014/main" id="{081E4A58-353D-44AE-B2FC-2A74E2E400F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V="1">
            <a:off x="7550402" y="2455479"/>
            <a:ext cx="4083433" cy="4083433"/>
          </a:xfrm>
          <a:prstGeom prst="arc">
            <a:avLst/>
          </a:prstGeom>
          <a:ln w="127000" cap="rnd">
            <a:solidFill>
              <a:schemeClr val="accent4"/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1" name="Content Placeholder 20">
            <a:extLst>
              <a:ext uri="{FF2B5EF4-FFF2-40B4-BE49-F238E27FC236}">
                <a16:creationId xmlns:a16="http://schemas.microsoft.com/office/drawing/2014/main" id="{7E793AAA-D5FE-B453-09D9-67CB5E44E83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447308" y="591344"/>
            <a:ext cx="6906491" cy="5585619"/>
          </a:xfr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s-CL" dirty="0"/>
              <a:t>Diseñar e implementar un sistema de gestión de IP y MAC integrando </a:t>
            </a:r>
            <a:r>
              <a:rPr lang="es-CL" b="1" dirty="0" err="1"/>
              <a:t>Nmap</a:t>
            </a:r>
            <a:r>
              <a:rPr lang="es-CL" dirty="0"/>
              <a:t> y </a:t>
            </a:r>
            <a:r>
              <a:rPr lang="es-CL" b="1" dirty="0"/>
              <a:t>Pi-</a:t>
            </a:r>
            <a:r>
              <a:rPr lang="es-CL" b="1" dirty="0" err="1"/>
              <a:t>hole</a:t>
            </a:r>
            <a:r>
              <a:rPr lang="es-CL" dirty="0"/>
              <a:t>, alcanzando al menos un 90 % de detección de dispositivos activos antes de diciembre de 2025.</a:t>
            </a:r>
          </a:p>
          <a:p>
            <a:endParaRPr lang="en-US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23" name="Rectangle 22">
            <a:extLst>
              <a:ext uri="{FF2B5EF4-FFF2-40B4-BE49-F238E27FC236}">
                <a16:creationId xmlns:a16="http://schemas.microsoft.com/office/drawing/2014/main" id="{907EF6B7-1338-4443-8C46-6A318D952DF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3048" y="0"/>
            <a:ext cx="12188952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5" name="Freeform: Shape 24">
            <a:extLst>
              <a:ext uri="{FF2B5EF4-FFF2-40B4-BE49-F238E27FC236}">
                <a16:creationId xmlns:a16="http://schemas.microsoft.com/office/drawing/2014/main" id="{DAAE4CDD-124C-4DCF-9584-B6033B545DD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" y="0"/>
            <a:ext cx="4167271" cy="6858000"/>
          </a:xfrm>
          <a:custGeom>
            <a:avLst/>
            <a:gdLst>
              <a:gd name="connsiteX0" fmla="*/ 0 w 4167271"/>
              <a:gd name="connsiteY0" fmla="*/ 0 h 6858000"/>
              <a:gd name="connsiteX1" fmla="*/ 2259550 w 4167271"/>
              <a:gd name="connsiteY1" fmla="*/ 0 h 6858000"/>
              <a:gd name="connsiteX2" fmla="*/ 2387803 w 4167271"/>
              <a:gd name="connsiteY2" fmla="*/ 82222 h 6858000"/>
              <a:gd name="connsiteX3" fmla="*/ 4167271 w 4167271"/>
              <a:gd name="connsiteY3" fmla="*/ 3429000 h 6858000"/>
              <a:gd name="connsiteX4" fmla="*/ 2387803 w 4167271"/>
              <a:gd name="connsiteY4" fmla="*/ 6775779 h 6858000"/>
              <a:gd name="connsiteX5" fmla="*/ 2259550 w 4167271"/>
              <a:gd name="connsiteY5" fmla="*/ 6858000 h 6858000"/>
              <a:gd name="connsiteX6" fmla="*/ 0 w 4167271"/>
              <a:gd name="connsiteY6" fmla="*/ 685800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4167271" h="6858000">
                <a:moveTo>
                  <a:pt x="0" y="0"/>
                </a:moveTo>
                <a:lnTo>
                  <a:pt x="2259550" y="0"/>
                </a:lnTo>
                <a:lnTo>
                  <a:pt x="2387803" y="82222"/>
                </a:lnTo>
                <a:cubicBezTo>
                  <a:pt x="3461407" y="807534"/>
                  <a:pt x="4167271" y="2035835"/>
                  <a:pt x="4167271" y="3429000"/>
                </a:cubicBezTo>
                <a:cubicBezTo>
                  <a:pt x="4167271" y="4822165"/>
                  <a:pt x="3461407" y="6050467"/>
                  <a:pt x="2387803" y="6775779"/>
                </a:cubicBezTo>
                <a:lnTo>
                  <a:pt x="2259550" y="6858000"/>
                </a:lnTo>
                <a:lnTo>
                  <a:pt x="0" y="6858000"/>
                </a:lnTo>
                <a:close/>
              </a:path>
            </a:pathLst>
          </a:cu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Title 2"/>
          <p:cNvSpPr>
            <a:spLocks noGrp="1"/>
          </p:cNvSpPr>
          <p:nvPr>
            <p:ph type="title"/>
          </p:nvPr>
        </p:nvSpPr>
        <p:spPr>
          <a:xfrm>
            <a:off x="686834" y="1153572"/>
            <a:ext cx="3200400" cy="4461163"/>
          </a:xfr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kern="1200" dirty="0" err="1">
                <a:solidFill>
                  <a:srgbClr val="FFFFFF"/>
                </a:solidFill>
                <a:latin typeface="+mj-lt"/>
                <a:ea typeface="+mj-ea"/>
                <a:cs typeface="+mj-cs"/>
              </a:rPr>
              <a:t>Aporte</a:t>
            </a:r>
            <a:r>
              <a:rPr lang="en-US" kern="1200" dirty="0">
                <a:solidFill>
                  <a:srgbClr val="FFFFFF"/>
                </a:solidFill>
                <a:latin typeface="+mj-lt"/>
                <a:ea typeface="+mj-ea"/>
                <a:cs typeface="+mj-cs"/>
              </a:rPr>
              <a:t> </a:t>
            </a:r>
            <a:r>
              <a:rPr lang="en-US" kern="1200" dirty="0" err="1">
                <a:solidFill>
                  <a:srgbClr val="FFFFFF"/>
                </a:solidFill>
                <a:latin typeface="+mj-lt"/>
                <a:ea typeface="+mj-ea"/>
                <a:cs typeface="+mj-cs"/>
              </a:rPr>
              <a:t>Innovador</a:t>
            </a:r>
            <a:endParaRPr lang="en-US" kern="1200" dirty="0">
              <a:solidFill>
                <a:srgbClr val="FFFFFF"/>
              </a:solidFill>
              <a:latin typeface="+mj-lt"/>
            </a:endParaRPr>
          </a:p>
          <a:p>
            <a:endParaRPr lang="en-US" kern="1200">
              <a:solidFill>
                <a:srgbClr val="FFFFFF"/>
              </a:solidFill>
              <a:latin typeface="+mj-lt"/>
              <a:ea typeface="+mj-ea"/>
              <a:cs typeface="+mj-cs"/>
            </a:endParaRPr>
          </a:p>
        </p:txBody>
      </p:sp>
      <p:sp>
        <p:nvSpPr>
          <p:cNvPr id="27" name="Arc 26">
            <a:extLst>
              <a:ext uri="{FF2B5EF4-FFF2-40B4-BE49-F238E27FC236}">
                <a16:creationId xmlns:a16="http://schemas.microsoft.com/office/drawing/2014/main" id="{081E4A58-353D-44AE-B2FC-2A74E2E400F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V="1">
            <a:off x="7550402" y="2455479"/>
            <a:ext cx="4083433" cy="4083433"/>
          </a:xfrm>
          <a:prstGeom prst="arc">
            <a:avLst/>
          </a:prstGeom>
          <a:ln w="127000" cap="rnd">
            <a:solidFill>
              <a:schemeClr val="accent4"/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8" name="Content Placeholder 17">
            <a:extLst>
              <a:ext uri="{FF2B5EF4-FFF2-40B4-BE49-F238E27FC236}">
                <a16:creationId xmlns:a16="http://schemas.microsoft.com/office/drawing/2014/main" id="{93E51279-A8B3-5BAA-10A6-C6B91CE3E29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447308" y="591344"/>
            <a:ext cx="6906491" cy="5585619"/>
          </a:xfr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s-CL" dirty="0"/>
              <a:t>El proyecto combina </a:t>
            </a:r>
            <a:r>
              <a:rPr lang="es-CL" b="1" dirty="0"/>
              <a:t>herramientas de software libre</a:t>
            </a:r>
            <a:r>
              <a:rPr lang="es-CL" dirty="0"/>
              <a:t> en un entorno web sencillo y eficiente, que facilita la supervisión de redes sin necesidad de costosas licencias.</a:t>
            </a:r>
            <a:br>
              <a:rPr lang="es-CL" dirty="0"/>
            </a:br>
            <a:r>
              <a:rPr lang="es-CL" dirty="0"/>
              <a:t> Su valor innovador radica en la </a:t>
            </a:r>
            <a:r>
              <a:rPr lang="es-CL" b="1" dirty="0"/>
              <a:t>automatización del monitoreo</a:t>
            </a:r>
            <a:r>
              <a:rPr lang="es-CL" dirty="0"/>
              <a:t>, la </a:t>
            </a:r>
            <a:r>
              <a:rPr lang="es-CL" b="1" dirty="0"/>
              <a:t>visualización centralizada de dispositivos activos</a:t>
            </a:r>
            <a:r>
              <a:rPr lang="es-CL" dirty="0"/>
              <a:t> y la posibilidad de adaptarlo a diferentes contextos: oficinas, PYMES, hogares o instituciones educativas.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5" name="Rectangle 14">
            <a:extLst>
              <a:ext uri="{FF2B5EF4-FFF2-40B4-BE49-F238E27FC236}">
                <a16:creationId xmlns:a16="http://schemas.microsoft.com/office/drawing/2014/main" id="{907EF6B7-1338-4443-8C46-6A318D952DF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3048" y="0"/>
            <a:ext cx="12188952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7" name="Freeform: Shape 16">
            <a:extLst>
              <a:ext uri="{FF2B5EF4-FFF2-40B4-BE49-F238E27FC236}">
                <a16:creationId xmlns:a16="http://schemas.microsoft.com/office/drawing/2014/main" id="{DAAE4CDD-124C-4DCF-9584-B6033B545DD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" y="0"/>
            <a:ext cx="4167271" cy="6858000"/>
          </a:xfrm>
          <a:custGeom>
            <a:avLst/>
            <a:gdLst>
              <a:gd name="connsiteX0" fmla="*/ 0 w 4167271"/>
              <a:gd name="connsiteY0" fmla="*/ 0 h 6858000"/>
              <a:gd name="connsiteX1" fmla="*/ 2259550 w 4167271"/>
              <a:gd name="connsiteY1" fmla="*/ 0 h 6858000"/>
              <a:gd name="connsiteX2" fmla="*/ 2387803 w 4167271"/>
              <a:gd name="connsiteY2" fmla="*/ 82222 h 6858000"/>
              <a:gd name="connsiteX3" fmla="*/ 4167271 w 4167271"/>
              <a:gd name="connsiteY3" fmla="*/ 3429000 h 6858000"/>
              <a:gd name="connsiteX4" fmla="*/ 2387803 w 4167271"/>
              <a:gd name="connsiteY4" fmla="*/ 6775779 h 6858000"/>
              <a:gd name="connsiteX5" fmla="*/ 2259550 w 4167271"/>
              <a:gd name="connsiteY5" fmla="*/ 6858000 h 6858000"/>
              <a:gd name="connsiteX6" fmla="*/ 0 w 4167271"/>
              <a:gd name="connsiteY6" fmla="*/ 685800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4167271" h="6858000">
                <a:moveTo>
                  <a:pt x="0" y="0"/>
                </a:moveTo>
                <a:lnTo>
                  <a:pt x="2259550" y="0"/>
                </a:lnTo>
                <a:lnTo>
                  <a:pt x="2387803" y="82222"/>
                </a:lnTo>
                <a:cubicBezTo>
                  <a:pt x="3461407" y="807534"/>
                  <a:pt x="4167271" y="2035835"/>
                  <a:pt x="4167271" y="3429000"/>
                </a:cubicBezTo>
                <a:cubicBezTo>
                  <a:pt x="4167271" y="4822165"/>
                  <a:pt x="3461407" y="6050467"/>
                  <a:pt x="2387803" y="6775779"/>
                </a:cubicBezTo>
                <a:lnTo>
                  <a:pt x="2259550" y="6858000"/>
                </a:lnTo>
                <a:lnTo>
                  <a:pt x="0" y="6858000"/>
                </a:lnTo>
                <a:close/>
              </a:path>
            </a:pathLst>
          </a:cu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Title 2"/>
          <p:cNvSpPr>
            <a:spLocks noGrp="1"/>
          </p:cNvSpPr>
          <p:nvPr>
            <p:ph type="title"/>
          </p:nvPr>
        </p:nvSpPr>
        <p:spPr>
          <a:xfrm>
            <a:off x="686834" y="1153572"/>
            <a:ext cx="3200400" cy="4461163"/>
          </a:xfr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kern="1200" dirty="0">
                <a:solidFill>
                  <a:srgbClr val="FFFFFF"/>
                </a:solidFill>
                <a:latin typeface="+mj-lt"/>
                <a:ea typeface="+mj-ea"/>
                <a:cs typeface="+mj-cs"/>
              </a:rPr>
              <a:t> Software Libre y </a:t>
            </a:r>
            <a:r>
              <a:rPr lang="en-US" kern="1200" dirty="0" err="1">
                <a:solidFill>
                  <a:srgbClr val="FFFFFF"/>
                </a:solidFill>
                <a:latin typeface="+mj-lt"/>
                <a:ea typeface="+mj-ea"/>
                <a:cs typeface="+mj-cs"/>
              </a:rPr>
              <a:t>Licencia</a:t>
            </a:r>
            <a:endParaRPr lang="en-US" kern="1200" dirty="0">
              <a:solidFill>
                <a:srgbClr val="FFFFFF"/>
              </a:solidFill>
              <a:latin typeface="+mj-lt"/>
            </a:endParaRPr>
          </a:p>
          <a:p>
            <a:endParaRPr lang="en-US" kern="1200">
              <a:solidFill>
                <a:srgbClr val="FFFFFF"/>
              </a:solidFill>
              <a:latin typeface="+mj-lt"/>
              <a:ea typeface="+mj-ea"/>
              <a:cs typeface="+mj-cs"/>
            </a:endParaRPr>
          </a:p>
        </p:txBody>
      </p:sp>
      <p:sp>
        <p:nvSpPr>
          <p:cNvPr id="19" name="Arc 18">
            <a:extLst>
              <a:ext uri="{FF2B5EF4-FFF2-40B4-BE49-F238E27FC236}">
                <a16:creationId xmlns:a16="http://schemas.microsoft.com/office/drawing/2014/main" id="{081E4A58-353D-44AE-B2FC-2A74E2E400F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V="1">
            <a:off x="7550402" y="2455479"/>
            <a:ext cx="4083433" cy="4083433"/>
          </a:xfrm>
          <a:prstGeom prst="arc">
            <a:avLst/>
          </a:prstGeom>
          <a:ln w="127000" cap="rnd">
            <a:solidFill>
              <a:schemeClr val="accent4"/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0" name="Content Placeholder 9">
            <a:extLst>
              <a:ext uri="{FF2B5EF4-FFF2-40B4-BE49-F238E27FC236}">
                <a16:creationId xmlns:a16="http://schemas.microsoft.com/office/drawing/2014/main" id="{C7F3BABD-019A-8F21-46E8-4FB0C5986DD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447308" y="591344"/>
            <a:ext cx="6906491" cy="5585619"/>
          </a:xfr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s-CL" dirty="0"/>
              <a:t>El proyecto se basa en el modelo del </a:t>
            </a:r>
            <a:r>
              <a:rPr lang="es-CL" b="1" dirty="0"/>
              <a:t>Bazar</a:t>
            </a:r>
            <a:r>
              <a:rPr lang="es-CL" dirty="0"/>
              <a:t>, descrito por </a:t>
            </a:r>
            <a:r>
              <a:rPr lang="es-CL" i="1" dirty="0"/>
              <a:t>Eric S. Raymond</a:t>
            </a:r>
            <a:r>
              <a:rPr lang="es-CL" dirty="0"/>
              <a:t>, que promueve la </a:t>
            </a:r>
            <a:r>
              <a:rPr lang="es-CL" b="1" dirty="0"/>
              <a:t>colaboración abierta</a:t>
            </a:r>
            <a:r>
              <a:rPr lang="es-CL" dirty="0"/>
              <a:t>, la </a:t>
            </a:r>
            <a:r>
              <a:rPr lang="es-CL" b="1" dirty="0"/>
              <a:t>transparencia del código</a:t>
            </a:r>
            <a:r>
              <a:rPr lang="es-CL" dirty="0"/>
              <a:t> y la </a:t>
            </a:r>
            <a:r>
              <a:rPr lang="es-CL" b="1" dirty="0"/>
              <a:t>mejora comunitaria continua</a:t>
            </a:r>
            <a:r>
              <a:rPr lang="es-CL" dirty="0"/>
              <a:t>.</a:t>
            </a:r>
            <a:br>
              <a:rPr lang="es-CL" dirty="0"/>
            </a:br>
            <a:r>
              <a:rPr lang="es-CL" dirty="0"/>
              <a:t> El sistema se publicará bajo licencia </a:t>
            </a:r>
            <a:r>
              <a:rPr lang="es-CL" b="1" dirty="0"/>
              <a:t>MIT</a:t>
            </a:r>
            <a:r>
              <a:rPr lang="es-CL" dirty="0"/>
              <a:t>, lo que garantiza su libre distribución, uso y modificación con reconocimiento al autor original.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907EF6B7-1338-4443-8C46-6A318D952DF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3048" y="0"/>
            <a:ext cx="12188952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Freeform: Shape 9">
            <a:extLst>
              <a:ext uri="{FF2B5EF4-FFF2-40B4-BE49-F238E27FC236}">
                <a16:creationId xmlns:a16="http://schemas.microsoft.com/office/drawing/2014/main" id="{DAAE4CDD-124C-4DCF-9584-B6033B545DD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" y="0"/>
            <a:ext cx="4167271" cy="6858000"/>
          </a:xfrm>
          <a:custGeom>
            <a:avLst/>
            <a:gdLst>
              <a:gd name="connsiteX0" fmla="*/ 0 w 4167271"/>
              <a:gd name="connsiteY0" fmla="*/ 0 h 6858000"/>
              <a:gd name="connsiteX1" fmla="*/ 2259550 w 4167271"/>
              <a:gd name="connsiteY1" fmla="*/ 0 h 6858000"/>
              <a:gd name="connsiteX2" fmla="*/ 2387803 w 4167271"/>
              <a:gd name="connsiteY2" fmla="*/ 82222 h 6858000"/>
              <a:gd name="connsiteX3" fmla="*/ 4167271 w 4167271"/>
              <a:gd name="connsiteY3" fmla="*/ 3429000 h 6858000"/>
              <a:gd name="connsiteX4" fmla="*/ 2387803 w 4167271"/>
              <a:gd name="connsiteY4" fmla="*/ 6775779 h 6858000"/>
              <a:gd name="connsiteX5" fmla="*/ 2259550 w 4167271"/>
              <a:gd name="connsiteY5" fmla="*/ 6858000 h 6858000"/>
              <a:gd name="connsiteX6" fmla="*/ 0 w 4167271"/>
              <a:gd name="connsiteY6" fmla="*/ 685800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4167271" h="6858000">
                <a:moveTo>
                  <a:pt x="0" y="0"/>
                </a:moveTo>
                <a:lnTo>
                  <a:pt x="2259550" y="0"/>
                </a:lnTo>
                <a:lnTo>
                  <a:pt x="2387803" y="82222"/>
                </a:lnTo>
                <a:cubicBezTo>
                  <a:pt x="3461407" y="807534"/>
                  <a:pt x="4167271" y="2035835"/>
                  <a:pt x="4167271" y="3429000"/>
                </a:cubicBezTo>
                <a:cubicBezTo>
                  <a:pt x="4167271" y="4822165"/>
                  <a:pt x="3461407" y="6050467"/>
                  <a:pt x="2387803" y="6775779"/>
                </a:cubicBezTo>
                <a:lnTo>
                  <a:pt x="2259550" y="6858000"/>
                </a:lnTo>
                <a:lnTo>
                  <a:pt x="0" y="6858000"/>
                </a:lnTo>
                <a:close/>
              </a:path>
            </a:pathLst>
          </a:cu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2373796E-CFF9-DDAB-A679-2A5A54A1D92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86834" y="1153572"/>
            <a:ext cx="3200400" cy="4461163"/>
          </a:xfr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kern="1200" dirty="0">
                <a:solidFill>
                  <a:srgbClr val="FFFFFF"/>
                </a:solidFill>
                <a:latin typeface="+mj-lt"/>
                <a:ea typeface="+mj-ea"/>
                <a:cs typeface="+mj-cs"/>
              </a:rPr>
              <a:t> </a:t>
            </a:r>
            <a:r>
              <a:rPr lang="en-US" kern="1200" err="1">
                <a:solidFill>
                  <a:srgbClr val="FFFFFF"/>
                </a:solidFill>
                <a:latin typeface="+mj-lt"/>
                <a:ea typeface="+mj-ea"/>
                <a:cs typeface="+mj-cs"/>
              </a:rPr>
              <a:t>Conclusión</a:t>
            </a:r>
            <a:endParaRPr lang="en-US" kern="1200">
              <a:solidFill>
                <a:srgbClr val="FFFFFF"/>
              </a:solidFill>
              <a:latin typeface="+mj-lt"/>
            </a:endParaRPr>
          </a:p>
          <a:p>
            <a:endParaRPr lang="en-US" kern="1200">
              <a:solidFill>
                <a:srgbClr val="FFFFFF"/>
              </a:solidFill>
              <a:latin typeface="+mj-lt"/>
              <a:ea typeface="+mj-ea"/>
              <a:cs typeface="+mj-cs"/>
            </a:endParaRPr>
          </a:p>
        </p:txBody>
      </p:sp>
      <p:sp>
        <p:nvSpPr>
          <p:cNvPr id="12" name="Arc 11">
            <a:extLst>
              <a:ext uri="{FF2B5EF4-FFF2-40B4-BE49-F238E27FC236}">
                <a16:creationId xmlns:a16="http://schemas.microsoft.com/office/drawing/2014/main" id="{081E4A58-353D-44AE-B2FC-2A74E2E400F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V="1">
            <a:off x="7550402" y="2455479"/>
            <a:ext cx="4083433" cy="4083433"/>
          </a:xfrm>
          <a:prstGeom prst="arc">
            <a:avLst/>
          </a:prstGeom>
          <a:ln w="127000" cap="rnd">
            <a:solidFill>
              <a:schemeClr val="accent4"/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453CB1CA-1C6C-F994-C874-96527DADC3B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447308" y="591344"/>
            <a:ext cx="6906491" cy="5585619"/>
          </a:xfr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s-CL" dirty="0"/>
              <a:t>Este proyecto representa una </a:t>
            </a:r>
            <a:r>
              <a:rPr lang="es-CL" b="1" dirty="0"/>
              <a:t>solución práctica y escalable</a:t>
            </a:r>
            <a:r>
              <a:rPr lang="es-CL" dirty="0"/>
              <a:t> para la administración de redes locales mediante software libre.</a:t>
            </a:r>
            <a:br>
              <a:rPr lang="es-CL" dirty="0"/>
            </a:br>
            <a:r>
              <a:rPr lang="es-CL" dirty="0"/>
              <a:t> Su enfoque fomenta la autonomía tecnológica, la innovación en entornos educativos y la formación profesional aplicada al mundo real de las redes y sistemas informáticos.</a:t>
            </a:r>
          </a:p>
        </p:txBody>
      </p:sp>
    </p:spTree>
    <p:extLst>
      <p:ext uri="{BB962C8B-B14F-4D97-AF65-F5344CB8AC3E}">
        <p14:creationId xmlns:p14="http://schemas.microsoft.com/office/powerpoint/2010/main" val="3922272794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354456568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 Them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 Them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lcf76f155ced4ddcb4097134ff3c332f xmlns="f9d6f6a8-4c53-4eb2-bc43-5970dc157c21">
      <Terms xmlns="http://schemas.microsoft.com/office/infopath/2007/PartnerControls"/>
    </lcf76f155ced4ddcb4097134ff3c332f>
    <Prueba xmlns="f9d6f6a8-4c53-4eb2-bc43-5970dc157c21" xsi:nil="true"/>
    <Estado xmlns="f9d6f6a8-4c53-4eb2-bc43-5970dc157c21" xsi:nil="true"/>
    <TaxCatchAll xmlns="cde5a5e2-932b-4139-8354-a8de2ed6db86" xsi:nil="true"/>
    <Fecha_x0020__x00fa_ltimo_x0020_recurso xmlns="f9d6f6a8-4c53-4eb2-bc43-5970dc157c21" xsi:nil="true"/>
    <_Flow_SignoffStatus xmlns="f9d6f6a8-4c53-4eb2-bc43-5970dc157c21" xsi:nil="true"/>
  </documentManagement>
</p:properties>
</file>

<file path=customXml/item2.xml><?xml version="1.0" encoding="utf-8"?>
<ct:contentTypeSchema xmlns:ct="http://schemas.microsoft.com/office/2006/metadata/contentType" xmlns:ma="http://schemas.microsoft.com/office/2006/metadata/properties/metaAttributes" ct:_="" ma:_="" ma:contentTypeName="Documento" ma:contentTypeID="0x010100FBEC16E57C49FB4C8FC2068EAA100277" ma:contentTypeVersion="29" ma:contentTypeDescription="Crear nuevo documento." ma:contentTypeScope="" ma:versionID="213e68402eea7ee67e92a7e85787514f">
  <xsd:schema xmlns:xsd="http://www.w3.org/2001/XMLSchema" xmlns:xs="http://www.w3.org/2001/XMLSchema" xmlns:p="http://schemas.microsoft.com/office/2006/metadata/properties" xmlns:ns2="f9d6f6a8-4c53-4eb2-bc43-5970dc157c21" xmlns:ns3="cde5a5e2-932b-4139-8354-a8de2ed6db86" targetNamespace="http://schemas.microsoft.com/office/2006/metadata/properties" ma:root="true" ma:fieldsID="cae16da778cf5b9ab526a32f8390a014" ns2:_="" ns3:_="">
    <xsd:import namespace="f9d6f6a8-4c53-4eb2-bc43-5970dc157c21"/>
    <xsd:import namespace="cde5a5e2-932b-4139-8354-a8de2ed6db86"/>
    <xsd:element name="properties">
      <xsd:complexType>
        <xsd:sequence>
          <xsd:element name="documentManagement">
            <xsd:complexType>
              <xsd:all>
                <xsd:element ref="ns2:Estado" minOccurs="0"/>
                <xsd:element ref="ns2:Fecha_x0020__x00fa_ltimo_x0020_recurso" minOccurs="0"/>
                <xsd:element ref="ns2:MediaServiceMetadata" minOccurs="0"/>
                <xsd:element ref="ns2:MediaServiceFastMetadata" minOccurs="0"/>
                <xsd:element ref="ns2:MediaServiceAutoKeyPoints" minOccurs="0"/>
                <xsd:element ref="ns2:MediaServiceKeyPoints" minOccurs="0"/>
                <xsd:element ref="ns2:_Flow_SignoffStatus" minOccurs="0"/>
                <xsd:element ref="ns2:MediaServiceDateTaken" minOccurs="0"/>
                <xsd:element ref="ns2:MediaServiceAutoTags" minOccurs="0"/>
                <xsd:element ref="ns2:MediaServiceGenerationTime" minOccurs="0"/>
                <xsd:element ref="ns2:MediaServiceEventHashCode" minOccurs="0"/>
                <xsd:element ref="ns2:MediaServiceOCR" minOccurs="0"/>
                <xsd:element ref="ns2:MediaLengthInSeconds" minOccurs="0"/>
                <xsd:element ref="ns3:SharedWithUsers" minOccurs="0"/>
                <xsd:element ref="ns3:SharedWithDetails" minOccurs="0"/>
                <xsd:element ref="ns2:lcf76f155ced4ddcb4097134ff3c332f" minOccurs="0"/>
                <xsd:element ref="ns3:TaxCatchAll" minOccurs="0"/>
                <xsd:element ref="ns2:Prueba" minOccurs="0"/>
                <xsd:element ref="ns2:MediaServiceObjectDetectorVersions" minOccurs="0"/>
                <xsd:element ref="ns2:MediaServiceLocation" minOccurs="0"/>
                <xsd:element ref="ns2:MediaServiceSearchProperties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f9d6f6a8-4c53-4eb2-bc43-5970dc157c21" elementFormDefault="qualified">
    <xsd:import namespace="http://schemas.microsoft.com/office/2006/documentManagement/types"/>
    <xsd:import namespace="http://schemas.microsoft.com/office/infopath/2007/PartnerControls"/>
    <xsd:element name="Estado" ma:index="4" nillable="true" ma:displayName="Estado" ma:format="Dropdown" ma:internalName="Estado">
      <xsd:simpleType>
        <xsd:restriction base="dms:Choice">
          <xsd:enumeration value="1-Entregado por DI"/>
          <xsd:enumeration value="2-Revisado por editor"/>
          <xsd:enumeration value="3-En producción multimedia"/>
          <xsd:enumeration value="4-Finalizada producción multimedia del RED"/>
        </xsd:restriction>
      </xsd:simpleType>
    </xsd:element>
    <xsd:element name="Fecha_x0020__x00fa_ltimo_x0020_recurso" ma:index="6" nillable="true" ma:displayName="Fecha_x0020__x00fa_ltimo_x0020_recurso" ma:format="DateTime" ma:internalName="Fecha_x0020__x00fa_ltimo_x0020_recurso" ma:readOnly="false">
      <xsd:simpleType>
        <xsd:restriction base="dms:DateTime"/>
      </xsd:simpleType>
    </xsd:element>
    <xsd:element name="MediaServiceMetadata" ma:index="10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11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AutoKeyPoints" ma:index="12" nillable="true" ma:displayName="MediaServiceAutoKeyPoints" ma:hidden="true" ma:internalName="MediaServiceAutoKeyPoints" ma:readOnly="true">
      <xsd:simpleType>
        <xsd:restriction base="dms:Note"/>
      </xsd:simpleType>
    </xsd:element>
    <xsd:element name="MediaServiceKeyPoints" ma:index="13" nillable="true" ma:displayName="KeyPoints" ma:internalName="MediaServiceKeyPoints" ma:readOnly="true">
      <xsd:simpleType>
        <xsd:restriction base="dms:Note">
          <xsd:maxLength value="255"/>
        </xsd:restriction>
      </xsd:simpleType>
    </xsd:element>
    <xsd:element name="_Flow_SignoffStatus" ma:index="14" nillable="true" ma:displayName="Estado de aprobación" ma:internalName="Estado_x0020_de_x0020_aprobaci_x00f3_n">
      <xsd:simpleType>
        <xsd:restriction base="dms:Text"/>
      </xsd:simpleType>
    </xsd:element>
    <xsd:element name="MediaServiceDateTaken" ma:index="15" nillable="true" ma:displayName="MediaServiceDateTaken" ma:hidden="true" ma:internalName="MediaServiceDateTaken" ma:readOnly="true">
      <xsd:simpleType>
        <xsd:restriction base="dms:Text"/>
      </xsd:simpleType>
    </xsd:element>
    <xsd:element name="MediaServiceAutoTags" ma:index="16" nillable="true" ma:displayName="Tags" ma:internalName="MediaServiceAutoTags" ma:readOnly="true">
      <xsd:simpleType>
        <xsd:restriction base="dms:Text"/>
      </xsd:simpleType>
    </xsd:element>
    <xsd:element name="MediaServiceGenerationTime" ma:index="17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18" nillable="true" ma:displayName="MediaServiceEventHashCode" ma:hidden="true" ma:internalName="MediaServiceEventHashCode" ma:readOnly="true">
      <xsd:simpleType>
        <xsd:restriction base="dms:Text"/>
      </xsd:simpleType>
    </xsd:element>
    <xsd:element name="MediaServiceOCR" ma:index="19" nillable="true" ma:displayName="Extracted Text" ma:internalName="MediaServiceOCR" ma:readOnly="true">
      <xsd:simpleType>
        <xsd:restriction base="dms:Note">
          <xsd:maxLength value="255"/>
        </xsd:restriction>
      </xsd:simpleType>
    </xsd:element>
    <xsd:element name="MediaLengthInSeconds" ma:index="20" nillable="true" ma:displayName="Length (seconds)" ma:internalName="MediaLengthInSeconds" ma:readOnly="true">
      <xsd:simpleType>
        <xsd:restriction base="dms:Unknown"/>
      </xsd:simpleType>
    </xsd:element>
    <xsd:element name="lcf76f155ced4ddcb4097134ff3c332f" ma:index="24" nillable="true" ma:taxonomy="true" ma:internalName="lcf76f155ced4ddcb4097134ff3c332f" ma:taxonomyFieldName="MediaServiceImageTags" ma:displayName="Etiquetas de imagen" ma:readOnly="false" ma:fieldId="{5cf76f15-5ced-4ddc-b409-7134ff3c332f}" ma:taxonomyMulti="true" ma:sspId="7ba64f34-471c-444f-bec6-6dfeaafbb20d" ma:termSetId="09814cd3-568e-fe90-9814-8d621ff8fb84" ma:anchorId="fba54fb3-c3e1-fe81-a776-ca4b69148c4d" ma:open="true" ma:isKeyword="false">
      <xsd:complexType>
        <xsd:sequence>
          <xsd:element ref="pc:Terms" minOccurs="0" maxOccurs="1"/>
        </xsd:sequence>
      </xsd:complexType>
    </xsd:element>
    <xsd:element name="Prueba" ma:index="26" nillable="true" ma:displayName="Prueba" ma:description="ssss" ma:format="Dropdown" ma:internalName="Prueba">
      <xsd:simpleType>
        <xsd:restriction base="dms:Note">
          <xsd:maxLength value="255"/>
        </xsd:restriction>
      </xsd:simpleType>
    </xsd:element>
    <xsd:element name="MediaServiceObjectDetectorVersions" ma:index="27" nillable="true" ma:displayName="MediaServiceObjectDetectorVersions" ma:hidden="true" ma:indexed="true" ma:internalName="MediaServiceObjectDetectorVersions" ma:readOnly="true">
      <xsd:simpleType>
        <xsd:restriction base="dms:Text"/>
      </xsd:simpleType>
    </xsd:element>
    <xsd:element name="MediaServiceLocation" ma:index="28" nillable="true" ma:displayName="Location" ma:indexed="true" ma:internalName="MediaServiceLocation" ma:readOnly="true">
      <xsd:simpleType>
        <xsd:restriction base="dms:Text"/>
      </xsd:simpleType>
    </xsd:element>
    <xsd:element name="MediaServiceSearchProperties" ma:index="29" nillable="true" ma:displayName="MediaServiceSearchProperties" ma:hidden="true" ma:internalName="MediaServiceSearchProperties" ma:readOnly="true">
      <xsd:simpleType>
        <xsd:restriction base="dms:Note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cde5a5e2-932b-4139-8354-a8de2ed6db86" elementFormDefault="qualified">
    <xsd:import namespace="http://schemas.microsoft.com/office/2006/documentManagement/types"/>
    <xsd:import namespace="http://schemas.microsoft.com/office/infopath/2007/PartnerControls"/>
    <xsd:element name="SharedWithUsers" ma:index="21" nillable="true" ma:displayName="Compartido con" ma:SearchPeopleOnly="false" ma:SharePointGroup="0" ma:internalName="SharedWithUsers" ma:readOnly="true" ma:showField="ImnNam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22" nillable="true" ma:displayName="Detalles de uso compartido" ma:internalName="SharedWithDetails" ma:readOnly="true">
      <xsd:simpleType>
        <xsd:restriction base="dms:Note">
          <xsd:maxLength value="255"/>
        </xsd:restriction>
      </xsd:simpleType>
    </xsd:element>
    <xsd:element name="TaxCatchAll" ma:index="25" nillable="true" ma:displayName="Taxonomy Catch All Column" ma:hidden="true" ma:list="{881ea69d-6923-4d13-9ad4-ad9a59669bdd}" ma:internalName="TaxCatchAll" ma:showField="CatchAllData" ma:web="cde5a5e2-932b-4139-8354-a8de2ed6db86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7" ma:displayName="Tipo de contenido"/>
        <xsd:element ref="dc:title" minOccurs="0" maxOccurs="1" ma:index="3" ma:displayName="Título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3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Props1.xml><?xml version="1.0" encoding="utf-8"?>
<ds:datastoreItem xmlns:ds="http://schemas.openxmlformats.org/officeDocument/2006/customXml" ds:itemID="{13841705-420A-467D-907A-13DC7425063D}">
  <ds:schemaRefs>
    <ds:schemaRef ds:uri="http://schemas.microsoft.com/office/2006/metadata/properties"/>
    <ds:schemaRef ds:uri="http://schemas.microsoft.com/office/infopath/2007/PartnerControls"/>
    <ds:schemaRef ds:uri="f9d6f6a8-4c53-4eb2-bc43-5970dc157c21"/>
    <ds:schemaRef ds:uri="cde5a5e2-932b-4139-8354-a8de2ed6db86"/>
  </ds:schemaRefs>
</ds:datastoreItem>
</file>

<file path=customXml/itemProps2.xml><?xml version="1.0" encoding="utf-8"?>
<ds:datastoreItem xmlns:ds="http://schemas.openxmlformats.org/officeDocument/2006/customXml" ds:itemID="{AF9A8E88-EEE5-42FC-93F5-9696E4A9EF03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f9d6f6a8-4c53-4eb2-bc43-5970dc157c21"/>
    <ds:schemaRef ds:uri="cde5a5e2-932b-4139-8354-a8de2ed6db86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customXml/itemProps3.xml><?xml version="1.0" encoding="utf-8"?>
<ds:datastoreItem xmlns:ds="http://schemas.openxmlformats.org/officeDocument/2006/customXml" ds:itemID="{15C8C969-0B05-4C8E-996B-8AC97E31D8C5}">
  <ds:schemaRefs>
    <ds:schemaRef ds:uri="http://schemas.microsoft.com/sharepoint/v3/contenttype/forms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otalTime>267</TotalTime>
  <Words>13</Words>
  <Application>Microsoft Office PowerPoint</Application>
  <PresentationFormat>Widescreen</PresentationFormat>
  <Paragraphs>4</Paragraphs>
  <Slides>8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9" baseType="lpstr">
      <vt:lpstr>Office Theme</vt:lpstr>
      <vt:lpstr>Avance 1 – Sistema de Gestión de IP y MAC con Nmap y Pi-hole </vt:lpstr>
      <vt:lpstr>Introducción</vt:lpstr>
      <vt:lpstr> Descripción del Proyecto</vt:lpstr>
      <vt:lpstr>Objetivo General </vt:lpstr>
      <vt:lpstr>Aporte Innovador </vt:lpstr>
      <vt:lpstr> Software Libre y Licencia </vt:lpstr>
      <vt:lpstr> Conclusión 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TITULO</dc:title>
  <dc:creator>Christian Vargas Farias</dc:creator>
  <cp:lastModifiedBy>Carla Veronica Matus Vergara</cp:lastModifiedBy>
  <cp:revision>101</cp:revision>
  <dcterms:created xsi:type="dcterms:W3CDTF">2020-02-10T20:31:49Z</dcterms:created>
  <dcterms:modified xsi:type="dcterms:W3CDTF">2025-11-04T13:24:34Z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0x010100FBEC16E57C49FB4C8FC2068EAA100277</vt:lpwstr>
  </property>
</Properties>
</file>