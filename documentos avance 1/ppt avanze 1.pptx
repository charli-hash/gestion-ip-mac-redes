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4"/>
  </p:sldMasterIdLst>
  <p:sldIdLst>
    <p:sldId id="263" r:id="rId5"/>
    <p:sldId id="264" r:id="rId6"/>
    <p:sldId id="265" r:id="rId7"/>
    <p:sldId id="266" r:id="rId8"/>
    <p:sldId id="267" r:id="rId9"/>
    <p:sldId id="268" r:id="rId10"/>
    <p:sldId id="260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FB6"/>
    <a:srgbClr val="048E8B"/>
    <a:srgbClr val="0F1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9EFCE3-E32A-C175-1986-B8422D358E31}" v="55" dt="2025-12-03T01:56:49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474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34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402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35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05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51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9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97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69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64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724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3E43A05-558E-4AB4-8A61-B280805FE7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0" y="0"/>
            <a:ext cx="338704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FC8C93-64E0-40FA-BCCC-AE84C4637A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0" y="1113314"/>
            <a:ext cx="7531005" cy="1709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</a:t>
            </a:r>
            <a:br>
              <a:rPr lang="es-ES" dirty="0"/>
            </a:br>
            <a:r>
              <a:rPr lang="es-ES" dirty="0"/>
              <a:t>PRESENTACIÓN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2C6252-2DDB-43C0-8241-75FA02D53C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0" y="5423227"/>
            <a:ext cx="7531005" cy="32145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Fecha</a:t>
            </a:r>
            <a:endParaRPr lang="es-CL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192" y="3989714"/>
            <a:ext cx="91312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6232" y="3839984"/>
            <a:ext cx="3929815" cy="3881596"/>
          </a:xfrm>
          <a:prstGeom prst="rect">
            <a:avLst/>
          </a:prstGeom>
        </p:spPr>
      </p:pic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DA36818-F61B-4B28-B280-572A83C6F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0" y="4114810"/>
            <a:ext cx="7531005" cy="755650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s-ES" dirty="0"/>
              <a:t>Área que presenta</a:t>
            </a: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0F2D1-CA48-4F24-8AB0-6D7C5222095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827613"/>
            <a:ext cx="1968619" cy="6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15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DA4E72-5B16-44F6-9635-C5BD9AF62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74545"/>
            <a:ext cx="109728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01F0777D-47A6-4CCF-BC6D-32AE8E27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3301"/>
            <a:ext cx="9867900" cy="697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41477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072303AE-2C5D-4DCC-A5E2-A6B5615EBF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0" y="0"/>
            <a:ext cx="3387043" cy="6858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192" y="3989714"/>
            <a:ext cx="91312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6232" y="3839984"/>
            <a:ext cx="3929815" cy="388159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F70C511-72C5-4DA8-80A5-9C968DFCAEE1}"/>
              </a:ext>
            </a:extLst>
          </p:cNvPr>
          <p:cNvSpPr txBox="1"/>
          <p:nvPr userDrawn="1"/>
        </p:nvSpPr>
        <p:spPr>
          <a:xfrm>
            <a:off x="3743324" y="2101561"/>
            <a:ext cx="574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MUCHAS GRACIAS</a:t>
            </a:r>
            <a:endParaRPr lang="es-CL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7E9E6E3-D485-4F02-BF1E-7E961E1F269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827613"/>
            <a:ext cx="1968619" cy="6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45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1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Introducción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noProof="1"/>
              <a:t>En el contexto actual, la administración eficiente de redes locales se ha vuelto esencial para instituciones, empresas y hogares.</a:t>
            </a:r>
            <a:br>
              <a:rPr lang="en-US" sz="2400" noProof="1"/>
            </a:br>
            <a:r>
              <a:rPr lang="en-US" sz="2400" noProof="1"/>
              <a:t> El aumento de dispositivos conectados, junto con la falta de control sobre las direcciones IP y MAC, genera congestión, pérdida de rendimiento y problemas de seguridad en las redes.</a:t>
            </a:r>
            <a:br>
              <a:rPr lang="en-US" sz="2400" noProof="1"/>
            </a:br>
            <a:r>
              <a:rPr lang="en-US" sz="2400" noProof="1"/>
              <a:t> Este proyecto nace como una respuesta a esa necesidad: </a:t>
            </a:r>
            <a:r>
              <a:rPr lang="en-US" sz="2400" b="1" noProof="1"/>
              <a:t>un sistema de gestión inteligente de IP y MAC</a:t>
            </a:r>
            <a:r>
              <a:rPr lang="en-US" sz="2400" noProof="1"/>
              <a:t>, que integre herramientas de </a:t>
            </a:r>
            <a:r>
              <a:rPr lang="en-US" sz="2400" b="1" noProof="1"/>
              <a:t>software libre</a:t>
            </a:r>
            <a:r>
              <a:rPr lang="en-US" sz="2400" noProof="1"/>
              <a:t> como </a:t>
            </a:r>
            <a:r>
              <a:rPr lang="en-US" sz="2400" b="1" noProof="1"/>
              <a:t>Nmap</a:t>
            </a:r>
            <a:r>
              <a:rPr lang="en-US" sz="2400" noProof="1"/>
              <a:t> y </a:t>
            </a:r>
            <a:r>
              <a:rPr lang="en-US" sz="2400" b="1" noProof="1"/>
              <a:t>Pi-hole</a:t>
            </a:r>
            <a:r>
              <a:rPr lang="en-US" sz="2400" noProof="1"/>
              <a:t>, para ofrecer un control automatizado, confiable y accesible del tráfico y de los dispositivos conectados.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kern="1200" noProof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Descripción del Proyecto</a:t>
            </a: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Content Placeholder 44">
            <a:extLst>
              <a:ext uri="{FF2B5EF4-FFF2-40B4-BE49-F238E27FC236}">
                <a16:creationId xmlns:a16="http://schemas.microsoft.com/office/drawing/2014/main" id="{847E9E94-6C6C-2263-941B-DDB9568A4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sz="2600" noProof="1"/>
              <a:t>El Sistema propuesto permitirá </a:t>
            </a:r>
            <a:r>
              <a:rPr lang="es-CL" sz="2600" b="1" noProof="1"/>
              <a:t>registrar, monitorear y administrar los dispositivos de una red local</a:t>
            </a:r>
            <a:r>
              <a:rPr lang="es-CL" sz="2600" noProof="1"/>
              <a:t> mediante una interfaz web desarrollada en </a:t>
            </a:r>
            <a:r>
              <a:rPr lang="es-CL" sz="2600" b="1" noProof="1"/>
              <a:t>PHP y MySQL</a:t>
            </a:r>
            <a:r>
              <a:rPr lang="es-CL" sz="2600" noProof="1"/>
              <a:t>.</a:t>
            </a:r>
            <a:br>
              <a:rPr lang="es-CL" sz="2600" noProof="1"/>
            </a:br>
            <a:r>
              <a:rPr lang="es-CL" sz="2600" noProof="1"/>
              <a:t> A través de </a:t>
            </a:r>
            <a:r>
              <a:rPr lang="es-CL" sz="2600" b="1" noProof="1"/>
              <a:t>Nmap</a:t>
            </a:r>
            <a:r>
              <a:rPr lang="es-CL" sz="2600" noProof="1"/>
              <a:t>, el sistema detectará automáticamente las IP, MAC y nombres de host activos, mientras que </a:t>
            </a:r>
            <a:r>
              <a:rPr lang="es-CL" sz="2600" b="1" noProof="1"/>
              <a:t>Pi-hole</a:t>
            </a:r>
            <a:r>
              <a:rPr lang="es-CL" sz="2600" noProof="1"/>
              <a:t> permitirá registrar las consultas DNS de cada dispositivo, generando así un historial básico de navegación.</a:t>
            </a:r>
            <a:br>
              <a:rPr lang="es-CL" sz="2600" noProof="1"/>
            </a:br>
            <a:r>
              <a:rPr lang="es-CL" sz="2600" noProof="1"/>
              <a:t> Con ello, se busca optimizar el uso de los recursos de red, reducir el colapso de IP disponibles y mejorar la trazabilidad de la información.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Objetivo</a:t>
            </a: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General</a:t>
            </a:r>
          </a:p>
          <a:p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E793AAA-D5FE-B453-09D9-67CB5E44E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dirty="0"/>
              <a:t>Diseñar e implementar un sistema de gestión de IP y MAC integrando </a:t>
            </a:r>
            <a:r>
              <a:rPr lang="es-CL" b="1" dirty="0" err="1"/>
              <a:t>Nmap</a:t>
            </a:r>
            <a:r>
              <a:rPr lang="es-CL" dirty="0"/>
              <a:t> y </a:t>
            </a:r>
            <a:r>
              <a:rPr lang="es-CL" b="1" dirty="0"/>
              <a:t>Pi-</a:t>
            </a:r>
            <a:r>
              <a:rPr lang="es-CL" b="1" dirty="0" err="1"/>
              <a:t>hole</a:t>
            </a:r>
            <a:r>
              <a:rPr lang="es-CL" dirty="0"/>
              <a:t>, alcanzando al menos un 90 % de detección de dispositivos activos a mediados de diciembre de 2025.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Aporte</a:t>
            </a: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Innovador</a:t>
            </a:r>
            <a:endParaRPr lang="en-US" kern="1200" dirty="0">
              <a:solidFill>
                <a:srgbClr val="FFFFFF"/>
              </a:solidFill>
              <a:latin typeface="+mj-lt"/>
            </a:endParaRPr>
          </a:p>
          <a:p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3E51279-A8B3-5BAA-10A6-C6B91CE3E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dirty="0"/>
              <a:t>El proyecto combina </a:t>
            </a:r>
            <a:r>
              <a:rPr lang="es-CL" b="1" dirty="0"/>
              <a:t>herramientas de software libre</a:t>
            </a:r>
            <a:r>
              <a:rPr lang="es-CL" dirty="0"/>
              <a:t> en un entorno web sencillo y eficiente, que facilita la supervisión de redes sin necesidad de costosas licencias.</a:t>
            </a:r>
            <a:br>
              <a:rPr lang="es-CL" dirty="0"/>
            </a:br>
            <a:r>
              <a:rPr lang="es-CL" dirty="0"/>
              <a:t> Su valor innovador radica en la</a:t>
            </a:r>
            <a:r>
              <a:rPr lang="es-CL" b="1" dirty="0"/>
              <a:t> </a:t>
            </a:r>
            <a:r>
              <a:rPr lang="es-CL" b="1" noProof="1"/>
              <a:t>validacion de mac</a:t>
            </a:r>
            <a:r>
              <a:rPr lang="es-CL" dirty="0"/>
              <a:t>, </a:t>
            </a:r>
            <a:r>
              <a:rPr lang="es-CL" b="1" dirty="0"/>
              <a:t>automatización del monitoreo</a:t>
            </a:r>
            <a:r>
              <a:rPr lang="es-CL" dirty="0"/>
              <a:t>, la </a:t>
            </a:r>
            <a:r>
              <a:rPr lang="es-CL" b="1" dirty="0"/>
              <a:t>visualización centralizada de dispositivos activos , dashboard en tiempo real</a:t>
            </a:r>
            <a:r>
              <a:rPr lang="es-CL" dirty="0"/>
              <a:t> y la posibilidad de adaptarlo a diferentes contextos: oficinas, PYMES, hogares o instituciones educativas.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Software Libre y </a:t>
            </a:r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Licencia</a:t>
            </a:r>
            <a:endParaRPr lang="en-US" kern="1200" dirty="0">
              <a:solidFill>
                <a:srgbClr val="FFFFFF"/>
              </a:solidFill>
              <a:latin typeface="+mj-lt"/>
            </a:endParaRPr>
          </a:p>
          <a:p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7F3BABD-019A-8F21-46E8-4FB0C5986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dirty="0"/>
              <a:t>El proyecto se basa en el modelo del </a:t>
            </a:r>
            <a:r>
              <a:rPr lang="es-CL" b="1" dirty="0"/>
              <a:t>Bazar</a:t>
            </a:r>
            <a:r>
              <a:rPr lang="es-CL" dirty="0"/>
              <a:t>, descrito por </a:t>
            </a:r>
            <a:r>
              <a:rPr lang="es-CL" i="1" dirty="0"/>
              <a:t>Eric S. Raymond</a:t>
            </a:r>
            <a:r>
              <a:rPr lang="es-CL" dirty="0"/>
              <a:t>, que promueve la </a:t>
            </a:r>
            <a:r>
              <a:rPr lang="es-CL" b="1" dirty="0"/>
              <a:t>colaboración abierta</a:t>
            </a:r>
            <a:r>
              <a:rPr lang="es-CL" dirty="0"/>
              <a:t>, la </a:t>
            </a:r>
            <a:r>
              <a:rPr lang="es-CL" b="1" dirty="0"/>
              <a:t>transparencia del código</a:t>
            </a:r>
            <a:r>
              <a:rPr lang="es-CL" dirty="0"/>
              <a:t> y la </a:t>
            </a:r>
            <a:r>
              <a:rPr lang="es-CL" b="1" dirty="0"/>
              <a:t>mejora comunitaria continua</a:t>
            </a:r>
            <a:r>
              <a:rPr lang="es-CL" dirty="0"/>
              <a:t>.</a:t>
            </a:r>
            <a:br>
              <a:rPr lang="es-CL" dirty="0"/>
            </a:br>
            <a:r>
              <a:rPr lang="es-CL" dirty="0"/>
              <a:t> El sistema se publicará bajo licencia </a:t>
            </a:r>
            <a:r>
              <a:rPr lang="es-CL" b="1" dirty="0"/>
              <a:t>MIT</a:t>
            </a:r>
            <a:r>
              <a:rPr lang="es-CL" dirty="0"/>
              <a:t>, lo que garantiza su libre distribución, uso y modificación con reconocimiento al autor original.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73796E-CFF9-DDAB-A679-2A5A54A1D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Conclusión</a:t>
            </a:r>
            <a:endParaRPr lang="en-US" kern="1200">
              <a:solidFill>
                <a:srgbClr val="FFFFFF"/>
              </a:solidFill>
              <a:latin typeface="+mj-lt"/>
            </a:endParaRPr>
          </a:p>
          <a:p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3CB1CA-1C6C-F994-C874-96527DAD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dirty="0"/>
              <a:t>Este proyecto representa una </a:t>
            </a:r>
            <a:r>
              <a:rPr lang="es-CL" b="1" dirty="0"/>
              <a:t>solución práctica y escalable</a:t>
            </a:r>
            <a:r>
              <a:rPr lang="es-CL" dirty="0"/>
              <a:t> para la administración de red local mediante software libre.</a:t>
            </a:r>
            <a:br>
              <a:rPr lang="es-CL" dirty="0"/>
            </a:br>
            <a:r>
              <a:rPr lang="es-CL" dirty="0"/>
              <a:t> Su enfoque fomenta la autonomía tecnológica, la innovación en entornos educativos y la formación profesional aplicada al mundo real de las redes y sistemas informáticos.</a:t>
            </a:r>
          </a:p>
        </p:txBody>
      </p:sp>
    </p:spTree>
    <p:extLst>
      <p:ext uri="{BB962C8B-B14F-4D97-AF65-F5344CB8AC3E}">
        <p14:creationId xmlns:p14="http://schemas.microsoft.com/office/powerpoint/2010/main" val="392227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456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9d6f6a8-4c53-4eb2-bc43-5970dc157c21">
      <Terms xmlns="http://schemas.microsoft.com/office/infopath/2007/PartnerControls"/>
    </lcf76f155ced4ddcb4097134ff3c332f>
    <Prueba xmlns="f9d6f6a8-4c53-4eb2-bc43-5970dc157c21" xsi:nil="true"/>
    <Estado xmlns="f9d6f6a8-4c53-4eb2-bc43-5970dc157c21" xsi:nil="true"/>
    <TaxCatchAll xmlns="cde5a5e2-932b-4139-8354-a8de2ed6db86" xsi:nil="true"/>
    <Fecha_x0020__x00fa_ltimo_x0020_recurso xmlns="f9d6f6a8-4c53-4eb2-bc43-5970dc157c21" xsi:nil="true"/>
    <_Flow_SignoffStatus xmlns="f9d6f6a8-4c53-4eb2-bc43-5970dc157c2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EC16E57C49FB4C8FC2068EAA100277" ma:contentTypeVersion="29" ma:contentTypeDescription="Crear nuevo documento." ma:contentTypeScope="" ma:versionID="213e68402eea7ee67e92a7e85787514f">
  <xsd:schema xmlns:xsd="http://www.w3.org/2001/XMLSchema" xmlns:xs="http://www.w3.org/2001/XMLSchema" xmlns:p="http://schemas.microsoft.com/office/2006/metadata/properties" xmlns:ns2="f9d6f6a8-4c53-4eb2-bc43-5970dc157c21" xmlns:ns3="cde5a5e2-932b-4139-8354-a8de2ed6db86" targetNamespace="http://schemas.microsoft.com/office/2006/metadata/properties" ma:root="true" ma:fieldsID="cae16da778cf5b9ab526a32f8390a014" ns2:_="" ns3:_="">
    <xsd:import namespace="f9d6f6a8-4c53-4eb2-bc43-5970dc157c21"/>
    <xsd:import namespace="cde5a5e2-932b-4139-8354-a8de2ed6db86"/>
    <xsd:element name="properties">
      <xsd:complexType>
        <xsd:sequence>
          <xsd:element name="documentManagement">
            <xsd:complexType>
              <xsd:all>
                <xsd:element ref="ns2:Estado" minOccurs="0"/>
                <xsd:element ref="ns2:Fecha_x0020__x00fa_ltimo_x0020_recurso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Prueba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d6f6a8-4c53-4eb2-bc43-5970dc157c21" elementFormDefault="qualified">
    <xsd:import namespace="http://schemas.microsoft.com/office/2006/documentManagement/types"/>
    <xsd:import namespace="http://schemas.microsoft.com/office/infopath/2007/PartnerControls"/>
    <xsd:element name="Estado" ma:index="4" nillable="true" ma:displayName="Estado" ma:format="Dropdown" ma:internalName="Estado">
      <xsd:simpleType>
        <xsd:restriction base="dms:Choice">
          <xsd:enumeration value="1-Entregado por DI"/>
          <xsd:enumeration value="2-Revisado por editor"/>
          <xsd:enumeration value="3-En producción multimedia"/>
          <xsd:enumeration value="4-Finalizada producción multimedia del RED"/>
        </xsd:restriction>
      </xsd:simpleType>
    </xsd:element>
    <xsd:element name="Fecha_x0020__x00fa_ltimo_x0020_recurso" ma:index="6" nillable="true" ma:displayName="Fecha_x0020__x00fa_ltimo_x0020_recurso" ma:format="DateTime" ma:internalName="Fecha_x0020__x00fa_ltimo_x0020_recurso" ma:readOnly="false">
      <xsd:simpleType>
        <xsd:restriction base="dms:DateTim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4" nillable="true" ma:displayName="Estado de aprobación" ma:internalName="Estado_x0020_de_x0020_aprobaci_x00f3_n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Etiquetas de imagen" ma:readOnly="false" ma:fieldId="{5cf76f15-5ced-4ddc-b409-7134ff3c332f}" ma:taxonomyMulti="true" ma:sspId="7ba64f34-471c-444f-bec6-6dfeaafbb2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Prueba" ma:index="26" nillable="true" ma:displayName="Prueba" ma:description="ssss" ma:format="Dropdown" ma:internalName="Prueba">
      <xsd:simpleType>
        <xsd:restriction base="dms:Note">
          <xsd:maxLength value="255"/>
        </xsd:restriction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e5a5e2-932b-4139-8354-a8de2ed6db86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Compartido con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881ea69d-6923-4d13-9ad4-ad9a59669bdd}" ma:internalName="TaxCatchAll" ma:showField="CatchAllData" ma:web="cde5a5e2-932b-4139-8354-a8de2ed6db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7" ma:displayName="Tipo de contenido"/>
        <xsd:element ref="dc:title" minOccurs="0" maxOccurs="1" ma:index="3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841705-420A-467D-907A-13DC7425063D}">
  <ds:schemaRefs>
    <ds:schemaRef ds:uri="http://schemas.microsoft.com/office/2006/metadata/properties"/>
    <ds:schemaRef ds:uri="http://schemas.microsoft.com/office/infopath/2007/PartnerControls"/>
    <ds:schemaRef ds:uri="f9d6f6a8-4c53-4eb2-bc43-5970dc157c21"/>
    <ds:schemaRef ds:uri="cde5a5e2-932b-4139-8354-a8de2ed6db86"/>
  </ds:schemaRefs>
</ds:datastoreItem>
</file>

<file path=customXml/itemProps2.xml><?xml version="1.0" encoding="utf-8"?>
<ds:datastoreItem xmlns:ds="http://schemas.openxmlformats.org/officeDocument/2006/customXml" ds:itemID="{AF9A8E88-EEE5-42FC-93F5-9696E4A9EF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d6f6a8-4c53-4eb2-bc43-5970dc157c21"/>
    <ds:schemaRef ds:uri="cde5a5e2-932b-4139-8354-a8de2ed6db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5C8C969-0B05-4C8E-996B-8AC97E31D8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13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Introducción</vt:lpstr>
      <vt:lpstr> Descripción del Proyecto</vt:lpstr>
      <vt:lpstr>Objetivo General </vt:lpstr>
      <vt:lpstr>Aporte Innovador </vt:lpstr>
      <vt:lpstr> Software Libre y Licencia </vt:lpstr>
      <vt:lpstr> Conclusión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</dc:title>
  <dc:creator>Christian Vargas Farias</dc:creator>
  <cp:lastModifiedBy>Carla Veronica Matus Vergara</cp:lastModifiedBy>
  <cp:revision>120</cp:revision>
  <dcterms:created xsi:type="dcterms:W3CDTF">2020-02-10T20:31:49Z</dcterms:created>
  <dcterms:modified xsi:type="dcterms:W3CDTF">2025-12-03T01:57:00Z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0x010100FBEC16E57C49FB4C8FC2068EAA100277</vt:lpwstr>
  </property>
</Properties>
</file>